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Risk score</c:v>
                </c:pt>
              </c:strCache>
            </c:strRef>
          </c:tx>
          <c:spPr>
            <a:solidFill>
              <a:srgbClr val="F2A93C"/>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BLR</c:v>
                  </c:pt>
                  <c:pt idx="1">
                    <c:v>MYS</c:v>
                  </c:pt>
                  <c:pt idx="2">
                    <c:v>MNG</c:v>
                  </c:pt>
                  <c:pt idx="3">
                    <c:v>HUB</c:v>
                  </c:pt>
                  <c:pt idx="4">
                    <c:v>BLG</c:v>
                  </c:pt>
                  <c:pt idx="5">
                    <c:v>KLB</c:v>
                  </c:pt>
                </c:lvl>
              </c:multiLvlStrCache>
            </c:multiLvlStrRef>
          </c:cat>
          <c:val>
            <c:numRef>
              <c:f>Sheet1!$B$2:$B$7</c:f>
              <c:numCache>
                <c:formatCode>General</c:formatCode>
                <c:ptCount val="6"/>
                <c:pt idx="0">
                  <c:v>82</c:v>
                </c:pt>
                <c:pt idx="1">
                  <c:v>54</c:v>
                </c:pt>
                <c:pt idx="2">
                  <c:v>38</c:v>
                </c:pt>
                <c:pt idx="3">
                  <c:v>47</c:v>
                </c:pt>
                <c:pt idx="4">
                  <c:v>58</c:v>
                </c:pt>
                <c:pt idx="5">
                  <c:v>61</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A3441"/>
            </a:solidFill>
            <a:prstDash val="solid"/>
            <a:round/>
          </a:ln>
        </c:spPr>
        <c:txPr>
          <a:bodyPr/>
          <a:lstStyle/>
          <a:p>
            <a:pPr>
              <a:defRPr sz="1200" b="0" i="0" u="none" strike="noStrike">
                <a:solidFill>
                  <a:srgbClr val="8FA0B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1E2733"/>
              </a:solidFill>
              <a:prstDash val="solid"/>
              <a:round/>
            </a:ln>
          </c:spPr>
        </c:majorGridlines>
        <c:numFmt formatCode="General" sourceLinked="0"/>
        <c:majorTickMark val="out"/>
        <c:minorTickMark val="none"/>
        <c:tickLblPos val="nextTo"/>
        <c:spPr>
          <a:ln w="12700" cap="flat">
            <a:solidFill>
              <a:srgbClr val="2A3441"/>
            </a:solidFill>
            <a:prstDash val="solid"/>
            <a:round/>
          </a:ln>
        </c:spPr>
        <c:txPr>
          <a:bodyPr/>
          <a:lstStyle/>
          <a:p>
            <a:pPr>
              <a:defRPr sz="1200" b="0" i="0" u="none" strike="noStrike">
                <a:solidFill>
                  <a:srgbClr val="8FA0B3"/>
                </a:solidFill>
                <a:latin typeface="Arial"/>
              </a:defRPr>
            </a:pPr>
            <a:endParaRPr lang="en-US"/>
          </a:p>
        </c:txPr>
        <c:crossAx val="2094734554"/>
        <c:crosses val="autoZero"/>
        <c:crossBetween val="between"/>
      </c:valAx>
      <c:spPr>
        <a:solidFill>
          <a:srgbClr val="141B24"/>
        </a:solidFill>
        <a:ln>
          <a:noFill/>
        </a:ln>
        <a:effectLst/>
      </c:spPr>
    </c:plotArea>
    <c:plotVisOnly val="1"/>
    <c:dispBlanksAs val="span"/>
  </c:chart>
  <c:spPr>
    <a:solidFill>
      <a:srgbClr val="0B0F14"/>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 TITLE (30 sec)</a:t>
            </a:r>
          </a:p>
          <a:p>
            <a:r>
              <a:t>"Good [morning/afternoon]. What you're looking at is CIAP -- the Crime Intelligence and Analytical Platform -- a prototype built for Karnataka State Police. In the next few minutes I'll show you how it turns siloed district crime data into a live, predictive intelligence hub."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 PROBLEM (45 sec)</a:t>
            </a:r>
          </a:p>
          <a:p>
            <a:r>
              <a:t>"Here's the problem today: every district keeps its own spreadsheet. Nothing talks to anything else. Dashboards, where they exist, tell you what happened last week -- not what's forming right now. And the connections between suspects, locations, and MOs live in separate reports, so an analyst has to manually piece together a network that the data already knows about."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 SOLUTION (45 sec)</a:t>
            </a:r>
          </a:p>
          <a:p>
            <a:r>
              <a:t>"CIAP is built around four questions an analyst actually asks: where is crime concentrated, who is connected to whom, what's likely to happen next, and how do we act on it with the right permissions. Let me show you each one in the live dashboard."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 ARCHITECTURE (45 sec)</a:t>
            </a:r>
          </a:p>
          <a:p>
            <a:r>
              <a:t>"Under the hood it's four layers. React on top for the interface. FastAPI in the middle handling auth and business logic. PostGIS for spatial queries -- that's what makes the hotspot map fast even at scale. And Neo4j as a separate graph store, because suspect networks are graph problems, not join-table problems."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 PREDICTIVE RISK (60 sec) -- SWITCH TO LIVE DEMO HERE</a:t>
            </a:r>
          </a:p>
          <a:p>
            <a:r>
              <a:t>"This is the predictive layer. Each district gets a 0-to-100 risk score computed by an IsolationForest model comparing current incident volume against its own rolling baseline -- no hand-tuned thresholds per district. [Switch to dashboard, Predictive tab] Watch Bengaluru Urban -- it's pulsing red because it's 82, well above baseline. That's not a static number, it recomputes on a schedule."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 LINK ANALYSIS (60 sec) -- LIVE DEMO</a:t>
            </a:r>
          </a:p>
          <a:p>
            <a:r>
              <a:t>"Now the network. [Switch to dashboard, Link Analysis tab] Every node here is either a suspect or a location. If I click a suspect... [click a node] ...you instantly see every location they've been tied to and every associate they share a location with. In SQL this kind of multi-hop query gets slow fast. In Neo4j it's one readable graph traversal."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 SECURITY (30 sec)</a:t>
            </a:r>
          </a:p>
          <a:p>
            <a:r>
              <a:t>"Access is role-based -- Field Officer, Analyst, Administrator -- and critically, permissions are checked on the server, not just hidden in the UI. [Switch role selector live if desired] Watch what happens to the acknowledge button when I switch to Officer -- it disappears, because officers only have view access."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 STACK &amp; DEPLOYMENT (30 sec)</a:t>
            </a:r>
          </a:p>
          <a:p>
            <a:r>
              <a:t>"This isn't a UI mockup with no backend. There's a real FastAPI service with JWT auth, a Postgres/PostGIS schema, a Neo4j graph model, and a Docker Compose file that spins up the entire stack with one command. It deploys today to Railway, a VPS, or AWS ECS."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 ROADMAP (30 sec)</a:t>
            </a:r>
          </a:p>
          <a:p>
            <a:r>
              <a:t>"What exists now is a fully interactive prototype. The next step is wiring live Neo4j queries and training the anomaly model on real historical FIR data. After that -- real-time alert push, a field-officer mobile app, and integration with existing state FIR systems."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 CLOSING (20 sec)</a:t>
            </a:r>
          </a:p>
          <a:p>
            <a:r>
              <a:t>"The goal wasn't to build a pretty demo. It's a system that's structured to be handed to a real engineering team and deployed. Happy to walk through any layer in more depth -- the code, the schema, or the API docs.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F2A93C"/>
          </a:solidFill>
          <a:ln/>
        </p:spPr>
      </p:sp>
      <p:sp>
        <p:nvSpPr>
          <p:cNvPr id="3" name="Text 1"/>
          <p:cNvSpPr/>
          <p:nvPr/>
        </p:nvSpPr>
        <p:spPr>
          <a:xfrm>
            <a:off x="640080" y="1920240"/>
            <a:ext cx="5486400" cy="1280160"/>
          </a:xfrm>
          <a:prstGeom prst="rect">
            <a:avLst/>
          </a:prstGeom>
          <a:noFill/>
          <a:ln/>
        </p:spPr>
        <p:txBody>
          <a:bodyPr wrap="square" rtlCol="0" anchor="ctr"/>
          <a:lstStyle/>
          <a:p>
            <a:pPr indent="0" marL="0">
              <a:buNone/>
            </a:pPr>
            <a:r>
              <a:rPr lang="en-US" sz="6400" b="1" dirty="0">
                <a:solidFill>
                  <a:srgbClr val="FFFFFF"/>
                </a:solidFill>
                <a:latin typeface="Arial" pitchFamily="34" charset="0"/>
                <a:ea typeface="Arial" pitchFamily="34" charset="-122"/>
                <a:cs typeface="Arial" pitchFamily="34" charset="-120"/>
              </a:rPr>
              <a:t>KSP</a:t>
            </a:r>
            <a:endParaRPr lang="en-US" sz="6400" dirty="0"/>
          </a:p>
        </p:txBody>
      </p:sp>
      <p:sp>
        <p:nvSpPr>
          <p:cNvPr id="4" name="Text 2"/>
          <p:cNvSpPr/>
          <p:nvPr/>
        </p:nvSpPr>
        <p:spPr>
          <a:xfrm>
            <a:off x="685800" y="3063240"/>
            <a:ext cx="8229600" cy="1005840"/>
          </a:xfrm>
          <a:prstGeom prst="rect">
            <a:avLst/>
          </a:prstGeom>
          <a:noFill/>
          <a:ln/>
        </p:spPr>
        <p:txBody>
          <a:bodyPr wrap="square" rtlCol="0" anchor="ctr"/>
          <a:lstStyle/>
          <a:p>
            <a:pPr indent="0" marL="0">
              <a:lnSpc>
                <a:spcPts val="2800"/>
              </a:lnSpc>
              <a:buNone/>
            </a:pPr>
            <a:r>
              <a:rPr lang="en-US" sz="2200" b="1" spc="100" kern="0" dirty="0">
                <a:solidFill>
                  <a:srgbClr val="F2A93C"/>
                </a:solidFill>
                <a:latin typeface="Arial" pitchFamily="34" charset="0"/>
                <a:ea typeface="Arial" pitchFamily="34" charset="-122"/>
                <a:cs typeface="Arial" pitchFamily="34" charset="-120"/>
              </a:rPr>
              <a:t>CRIME INTELLIGENCE &amp;</a:t>
            </a:r>
            <a:endParaRPr lang="en-US" sz="2200" dirty="0"/>
          </a:p>
          <a:p>
            <a:pPr indent="0" marL="0">
              <a:lnSpc>
                <a:spcPts val="2800"/>
              </a:lnSpc>
              <a:buNone/>
            </a:pPr>
            <a:r>
              <a:rPr lang="en-US" sz="2200" b="1" spc="100" kern="0" dirty="0">
                <a:solidFill>
                  <a:srgbClr val="F2A93C"/>
                </a:solidFill>
                <a:latin typeface="Arial" pitchFamily="34" charset="0"/>
                <a:ea typeface="Arial" pitchFamily="34" charset="-122"/>
                <a:cs typeface="Arial" pitchFamily="34" charset="-120"/>
              </a:rPr>
              <a:t>ANALYTICAL PLATFORM</a:t>
            </a:r>
            <a:endParaRPr lang="en-US" sz="2200" dirty="0"/>
          </a:p>
        </p:txBody>
      </p:sp>
      <p:sp>
        <p:nvSpPr>
          <p:cNvPr id="5" name="Text 3"/>
          <p:cNvSpPr/>
          <p:nvPr/>
        </p:nvSpPr>
        <p:spPr>
          <a:xfrm>
            <a:off x="685800" y="4160520"/>
            <a:ext cx="7589520" cy="822960"/>
          </a:xfrm>
          <a:prstGeom prst="rect">
            <a:avLst/>
          </a:prstGeom>
          <a:noFill/>
          <a:ln/>
        </p:spPr>
        <p:txBody>
          <a:bodyPr wrap="square" rtlCol="0" anchor="ctr"/>
          <a:lstStyle/>
          <a:p>
            <a:pPr indent="0" marL="0">
              <a:lnSpc>
                <a:spcPts val="1800"/>
              </a:lnSpc>
              <a:buNone/>
            </a:pPr>
            <a:r>
              <a:rPr lang="en-US" sz="1300" dirty="0">
                <a:solidFill>
                  <a:srgbClr val="E7ECF2"/>
                </a:solidFill>
                <a:latin typeface="Arial" pitchFamily="34" charset="0"/>
                <a:ea typeface="Arial" pitchFamily="34" charset="-122"/>
                <a:cs typeface="Arial" pitchFamily="34" charset="-120"/>
              </a:rPr>
              <a:t>A dynamic intelligence engine for Karnataka State Police — geospatial hotspots, criminal-network graph analysis, and predictive risk scoring in one platform.</a:t>
            </a:r>
            <a:endParaRPr lang="en-US" sz="1300" dirty="0"/>
          </a:p>
        </p:txBody>
      </p:sp>
      <p:sp>
        <p:nvSpPr>
          <p:cNvPr id="6" name="Text 4"/>
          <p:cNvSpPr/>
          <p:nvPr/>
        </p:nvSpPr>
        <p:spPr>
          <a:xfrm>
            <a:off x="685800" y="5943600"/>
            <a:ext cx="5486400" cy="365760"/>
          </a:xfrm>
          <a:prstGeom prst="rect">
            <a:avLst/>
          </a:prstGeom>
          <a:noFill/>
          <a:ln/>
        </p:spPr>
        <p:txBody>
          <a:bodyPr wrap="square" rtlCol="0" anchor="ctr"/>
          <a:lstStyle/>
          <a:p>
            <a:pPr indent="0" marL="0">
              <a:buNone/>
            </a:pPr>
            <a:r>
              <a:rPr lang="en-US" sz="1000" spc="200" kern="0" dirty="0">
                <a:solidFill>
                  <a:srgbClr val="8FA0B3"/>
                </a:solidFill>
                <a:latin typeface="Consolas" pitchFamily="34" charset="0"/>
                <a:ea typeface="Consolas" pitchFamily="34" charset="-122"/>
                <a:cs typeface="Consolas" pitchFamily="34" charset="-120"/>
              </a:rPr>
              <a:t>PROTOTYPE  ·  FULL-STACK  ·  JULY 2026</a:t>
            </a:r>
            <a:endParaRPr lang="en-US" sz="1000" dirty="0"/>
          </a:p>
        </p:txBody>
      </p:sp>
      <p:sp>
        <p:nvSpPr>
          <p:cNvPr id="7" name="Shape 5"/>
          <p:cNvSpPr/>
          <p:nvPr/>
        </p:nvSpPr>
        <p:spPr>
          <a:xfrm>
            <a:off x="8503920" y="1463040"/>
            <a:ext cx="3108960" cy="4206240"/>
          </a:xfrm>
          <a:prstGeom prst="rect">
            <a:avLst/>
          </a:prstGeom>
          <a:solidFill>
            <a:srgbClr val="141B24"/>
          </a:solidFill>
          <a:ln w="12700">
            <a:solidFill>
              <a:srgbClr val="1E2733"/>
            </a:solidFill>
            <a:prstDash val="solid"/>
          </a:ln>
        </p:spPr>
      </p:sp>
      <p:sp>
        <p:nvSpPr>
          <p:cNvPr id="8" name="Text 6"/>
          <p:cNvSpPr/>
          <p:nvPr/>
        </p:nvSpPr>
        <p:spPr>
          <a:xfrm>
            <a:off x="8503920" y="1828800"/>
            <a:ext cx="3108960" cy="1097280"/>
          </a:xfrm>
          <a:prstGeom prst="rect">
            <a:avLst/>
          </a:prstGeom>
          <a:noFill/>
          <a:ln/>
        </p:spPr>
        <p:txBody>
          <a:bodyPr wrap="square" rtlCol="0" anchor="ctr"/>
          <a:lstStyle/>
          <a:p>
            <a:pPr algn="ctr" indent="0" marL="0">
              <a:buNone/>
            </a:pPr>
            <a:r>
              <a:rPr lang="en-US" sz="4800" b="1" dirty="0">
                <a:solidFill>
                  <a:srgbClr val="D64545"/>
                </a:solidFill>
                <a:latin typeface="Consolas" pitchFamily="34" charset="0"/>
                <a:ea typeface="Consolas" pitchFamily="34" charset="-122"/>
                <a:cs typeface="Consolas" pitchFamily="34" charset="-120"/>
              </a:rPr>
              <a:t>82</a:t>
            </a:r>
            <a:endParaRPr lang="en-US" sz="4800" dirty="0"/>
          </a:p>
        </p:txBody>
      </p:sp>
      <p:sp>
        <p:nvSpPr>
          <p:cNvPr id="9" name="Text 7"/>
          <p:cNvSpPr/>
          <p:nvPr/>
        </p:nvSpPr>
        <p:spPr>
          <a:xfrm>
            <a:off x="8503920" y="2880360"/>
            <a:ext cx="3108960" cy="548640"/>
          </a:xfrm>
          <a:prstGeom prst="rect">
            <a:avLst/>
          </a:prstGeom>
          <a:noFill/>
          <a:ln/>
        </p:spPr>
        <p:txBody>
          <a:bodyPr wrap="square" rtlCol="0" anchor="ctr"/>
          <a:lstStyle/>
          <a:p>
            <a:pPr algn="ctr" indent="0" marL="0">
              <a:lnSpc>
                <a:spcPts val="1200"/>
              </a:lnSpc>
              <a:buNone/>
            </a:pPr>
            <a:r>
              <a:rPr lang="en-US" sz="900" spc="100" kern="0" dirty="0">
                <a:solidFill>
                  <a:srgbClr val="8FA0B3"/>
                </a:solidFill>
                <a:latin typeface="Arial" pitchFamily="34" charset="0"/>
                <a:ea typeface="Arial" pitchFamily="34" charset="-122"/>
                <a:cs typeface="Arial" pitchFamily="34" charset="-120"/>
              </a:rPr>
              <a:t>RISK SCORE</a:t>
            </a:r>
            <a:endParaRPr lang="en-US" sz="900" dirty="0"/>
          </a:p>
          <a:p>
            <a:pPr algn="ctr" indent="0" marL="0">
              <a:lnSpc>
                <a:spcPts val="1200"/>
              </a:lnSpc>
              <a:buNone/>
            </a:pPr>
            <a:r>
              <a:rPr lang="en-US" sz="900" spc="100" kern="0" dirty="0">
                <a:solidFill>
                  <a:srgbClr val="8FA0B3"/>
                </a:solidFill>
                <a:latin typeface="Arial" pitchFamily="34" charset="0"/>
                <a:ea typeface="Arial" pitchFamily="34" charset="-122"/>
                <a:cs typeface="Arial" pitchFamily="34" charset="-120"/>
              </a:rPr>
              <a:t>BENGALURU URBAN</a:t>
            </a:r>
            <a:endParaRPr lang="en-US" sz="900" dirty="0"/>
          </a:p>
        </p:txBody>
      </p:sp>
      <p:sp>
        <p:nvSpPr>
          <p:cNvPr id="10" name="Shape 8"/>
          <p:cNvSpPr/>
          <p:nvPr/>
        </p:nvSpPr>
        <p:spPr>
          <a:xfrm>
            <a:off x="8778240" y="3657600"/>
            <a:ext cx="2560320" cy="0"/>
          </a:xfrm>
          <a:prstGeom prst="line">
            <a:avLst/>
          </a:prstGeom>
          <a:noFill/>
          <a:ln w="12700">
            <a:solidFill>
              <a:srgbClr val="2A3441"/>
            </a:solidFill>
            <a:prstDash val="solid"/>
          </a:ln>
        </p:spPr>
      </p:sp>
      <p:sp>
        <p:nvSpPr>
          <p:cNvPr id="11" name="Text 9"/>
          <p:cNvSpPr/>
          <p:nvPr/>
        </p:nvSpPr>
        <p:spPr>
          <a:xfrm>
            <a:off x="8686800" y="3931920"/>
            <a:ext cx="2743200" cy="1371600"/>
          </a:xfrm>
          <a:prstGeom prst="rect">
            <a:avLst/>
          </a:prstGeom>
          <a:noFill/>
          <a:ln/>
        </p:spPr>
        <p:txBody>
          <a:bodyPr wrap="square" rtlCol="0" anchor="ctr"/>
          <a:lstStyle/>
          <a:p>
            <a:pPr indent="0" marL="0">
              <a:lnSpc>
                <a:spcPts val="2000"/>
              </a:lnSpc>
              <a:buNone/>
            </a:pPr>
            <a:r>
              <a:rPr lang="en-US" sz="950" dirty="0">
                <a:solidFill>
                  <a:srgbClr val="2A8C8C"/>
                </a:solidFill>
                <a:latin typeface="Consolas" pitchFamily="34" charset="0"/>
                <a:ea typeface="Consolas" pitchFamily="34" charset="-122"/>
                <a:cs typeface="Consolas" pitchFamily="34" charset="-120"/>
              </a:rPr>
              <a:t>12 DISTRICTS MONITORED</a:t>
            </a:r>
            <a:endParaRPr lang="en-US" sz="950" dirty="0"/>
          </a:p>
          <a:p>
            <a:pPr indent="0" marL="0">
              <a:lnSpc>
                <a:spcPts val="2000"/>
              </a:lnSpc>
              <a:buNone/>
            </a:pPr>
            <a:r>
              <a:rPr lang="en-US" sz="950" dirty="0">
                <a:solidFill>
                  <a:srgbClr val="2A8C8C"/>
                </a:solidFill>
                <a:latin typeface="Consolas" pitchFamily="34" charset="0"/>
                <a:ea typeface="Consolas" pitchFamily="34" charset="-122"/>
                <a:cs typeface="Consolas" pitchFamily="34" charset="-120"/>
              </a:rPr>
              <a:t>24H HOTSPOT ANIMATION</a:t>
            </a:r>
            <a:endParaRPr lang="en-US" sz="950" dirty="0"/>
          </a:p>
          <a:p>
            <a:pPr indent="0" marL="0">
              <a:lnSpc>
                <a:spcPts val="2000"/>
              </a:lnSpc>
              <a:buNone/>
            </a:pPr>
            <a:r>
              <a:rPr lang="en-US" sz="950" dirty="0">
                <a:solidFill>
                  <a:srgbClr val="2A8C8C"/>
                </a:solidFill>
                <a:latin typeface="Consolas" pitchFamily="34" charset="0"/>
                <a:ea typeface="Consolas" pitchFamily="34" charset="-122"/>
                <a:cs typeface="Consolas" pitchFamily="34" charset="-120"/>
              </a:rPr>
              <a:t>LIVE LINK-ANALYSIS GRAPH</a:t>
            </a:r>
            <a:endParaRPr lang="en-US" sz="950" dirty="0"/>
          </a:p>
        </p:txBody>
      </p:sp>
      <p:sp>
        <p:nvSpPr>
          <p:cNvPr id="12" name="Text 10"/>
          <p:cNvSpPr/>
          <p:nvPr/>
        </p:nvSpPr>
        <p:spPr>
          <a:xfrm>
            <a:off x="11521440" y="6446520"/>
            <a:ext cx="548640" cy="274320"/>
          </a:xfrm>
          <a:prstGeom prst="rect">
            <a:avLst/>
          </a:prstGeom>
          <a:noFill/>
          <a:ln/>
        </p:spPr>
        <p:txBody>
          <a:bodyPr wrap="square" rtlCol="0" anchor="ctr"/>
          <a:lstStyle/>
          <a:p>
            <a:pPr indent="0" marL="0">
              <a:buNone/>
            </a:pPr>
            <a:r>
              <a:rPr lang="en-US" sz="1000" dirty="0">
                <a:solidFill>
                  <a:srgbClr val="8FA0B3"/>
                </a:solidFill>
                <a:latin typeface="Consolas" pitchFamily="34" charset="0"/>
                <a:ea typeface="Consolas" pitchFamily="34" charset="-122"/>
                <a:cs typeface="Consolas"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218"/>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100" b="1" spc="200" kern="0" dirty="0">
                <a:solidFill>
                  <a:srgbClr val="F2A93C"/>
                </a:solidFill>
                <a:latin typeface="Arial" pitchFamily="34" charset="0"/>
                <a:ea typeface="Arial" pitchFamily="34" charset="-122"/>
                <a:cs typeface="Arial" pitchFamily="34" charset="-120"/>
              </a:rPr>
              <a:t>THE PROBLEM</a:t>
            </a:r>
            <a:endParaRPr lang="en-US" sz="1100" dirty="0"/>
          </a:p>
        </p:txBody>
      </p:sp>
      <p:sp>
        <p:nvSpPr>
          <p:cNvPr id="3" name="Text 1"/>
          <p:cNvSpPr/>
          <p:nvPr/>
        </p:nvSpPr>
        <p:spPr>
          <a:xfrm>
            <a:off x="548640" y="822960"/>
            <a:ext cx="7772400" cy="1463040"/>
          </a:xfrm>
          <a:prstGeom prst="rect">
            <a:avLst/>
          </a:prstGeom>
          <a:noFill/>
          <a:ln/>
        </p:spPr>
        <p:txBody>
          <a:bodyPr wrap="square" rtlCol="0" anchor="ctr"/>
          <a:lstStyle/>
          <a:p>
            <a:pPr indent="0" marL="0">
              <a:lnSpc>
                <a:spcPts val="3800"/>
              </a:lnSpc>
              <a:buNone/>
            </a:pPr>
            <a:r>
              <a:rPr lang="en-US" sz="3400" b="1" dirty="0">
                <a:solidFill>
                  <a:srgbClr val="FFFFFF"/>
                </a:solidFill>
                <a:latin typeface="Arial" pitchFamily="34" charset="0"/>
                <a:ea typeface="Arial" pitchFamily="34" charset="-122"/>
                <a:cs typeface="Arial" pitchFamily="34" charset="-120"/>
              </a:rPr>
              <a:t>Policing data is reactive,</a:t>
            </a:r>
            <a:endParaRPr lang="en-US" sz="3400" dirty="0"/>
          </a:p>
          <a:p>
            <a:pPr indent="0" marL="0">
              <a:lnSpc>
                <a:spcPts val="3800"/>
              </a:lnSpc>
              <a:buNone/>
            </a:pPr>
            <a:r>
              <a:rPr lang="en-US" sz="3400" b="1" dirty="0">
                <a:solidFill>
                  <a:srgbClr val="FFFFFF"/>
                </a:solidFill>
                <a:latin typeface="Arial" pitchFamily="34" charset="0"/>
                <a:ea typeface="Arial" pitchFamily="34" charset="-122"/>
                <a:cs typeface="Arial" pitchFamily="34" charset="-120"/>
              </a:rPr>
              <a:t>not predictive.</a:t>
            </a:r>
            <a:endParaRPr lang="en-US" sz="3400" dirty="0"/>
          </a:p>
        </p:txBody>
      </p:sp>
      <p:sp>
        <p:nvSpPr>
          <p:cNvPr id="4" name="Shape 2"/>
          <p:cNvSpPr/>
          <p:nvPr/>
        </p:nvSpPr>
        <p:spPr>
          <a:xfrm>
            <a:off x="548640" y="2514600"/>
            <a:ext cx="54864" cy="777240"/>
          </a:xfrm>
          <a:prstGeom prst="rect">
            <a:avLst/>
          </a:prstGeom>
          <a:solidFill>
            <a:srgbClr val="D64545"/>
          </a:solidFill>
          <a:ln/>
        </p:spPr>
      </p:sp>
      <p:sp>
        <p:nvSpPr>
          <p:cNvPr id="5" name="Text 3"/>
          <p:cNvSpPr/>
          <p:nvPr/>
        </p:nvSpPr>
        <p:spPr>
          <a:xfrm>
            <a:off x="777240" y="2468880"/>
            <a:ext cx="5029200" cy="365760"/>
          </a:xfrm>
          <a:prstGeom prst="rect">
            <a:avLst/>
          </a:prstGeom>
          <a:noFill/>
          <a:ln/>
        </p:spPr>
        <p:txBody>
          <a:bodyPr wrap="square" rtlCol="0" anchor="ctr"/>
          <a:lstStyle/>
          <a:p>
            <a:pPr indent="0" marL="0">
              <a:buNone/>
            </a:pPr>
            <a:r>
              <a:rPr lang="en-US" sz="1400" b="1" dirty="0">
                <a:solidFill>
                  <a:srgbClr val="F2A93C"/>
                </a:solidFill>
                <a:latin typeface="Arial" pitchFamily="34" charset="0"/>
                <a:ea typeface="Arial" pitchFamily="34" charset="-122"/>
                <a:cs typeface="Arial" pitchFamily="34" charset="-120"/>
              </a:rPr>
              <a:t>Siloed by district</a:t>
            </a:r>
            <a:endParaRPr lang="en-US" sz="1400" dirty="0"/>
          </a:p>
        </p:txBody>
      </p:sp>
      <p:sp>
        <p:nvSpPr>
          <p:cNvPr id="6" name="Text 4"/>
          <p:cNvSpPr/>
          <p:nvPr/>
        </p:nvSpPr>
        <p:spPr>
          <a:xfrm>
            <a:off x="777240" y="2807208"/>
            <a:ext cx="7772400" cy="457200"/>
          </a:xfrm>
          <a:prstGeom prst="rect">
            <a:avLst/>
          </a:prstGeom>
          <a:noFill/>
          <a:ln/>
        </p:spPr>
        <p:txBody>
          <a:bodyPr wrap="square" rtlCol="0" anchor="ctr"/>
          <a:lstStyle/>
          <a:p>
            <a:pPr indent="0" marL="0">
              <a:lnSpc>
                <a:spcPts val="1500"/>
              </a:lnSpc>
              <a:buNone/>
            </a:pPr>
            <a:r>
              <a:rPr lang="en-US" sz="1150" dirty="0">
                <a:solidFill>
                  <a:srgbClr val="E7ECF2"/>
                </a:solidFill>
                <a:latin typeface="Arial" pitchFamily="34" charset="0"/>
                <a:ea typeface="Arial" pitchFamily="34" charset="-122"/>
                <a:cs typeface="Arial" pitchFamily="34" charset="-120"/>
              </a:rPr>
              <a:t>Each station keeps its own Excel/CSV — nothing talks to anything else.</a:t>
            </a:r>
            <a:endParaRPr lang="en-US" sz="1150" dirty="0"/>
          </a:p>
        </p:txBody>
      </p:sp>
      <p:sp>
        <p:nvSpPr>
          <p:cNvPr id="7" name="Shape 5"/>
          <p:cNvSpPr/>
          <p:nvPr/>
        </p:nvSpPr>
        <p:spPr>
          <a:xfrm>
            <a:off x="548640" y="3474720"/>
            <a:ext cx="54864" cy="777240"/>
          </a:xfrm>
          <a:prstGeom prst="rect">
            <a:avLst/>
          </a:prstGeom>
          <a:solidFill>
            <a:srgbClr val="D64545"/>
          </a:solidFill>
          <a:ln/>
        </p:spPr>
      </p:sp>
      <p:sp>
        <p:nvSpPr>
          <p:cNvPr id="8" name="Text 6"/>
          <p:cNvSpPr/>
          <p:nvPr/>
        </p:nvSpPr>
        <p:spPr>
          <a:xfrm>
            <a:off x="777240" y="3429000"/>
            <a:ext cx="5029200" cy="365760"/>
          </a:xfrm>
          <a:prstGeom prst="rect">
            <a:avLst/>
          </a:prstGeom>
          <a:noFill/>
          <a:ln/>
        </p:spPr>
        <p:txBody>
          <a:bodyPr wrap="square" rtlCol="0" anchor="ctr"/>
          <a:lstStyle/>
          <a:p>
            <a:pPr indent="0" marL="0">
              <a:buNone/>
            </a:pPr>
            <a:r>
              <a:rPr lang="en-US" sz="1400" b="1" dirty="0">
                <a:solidFill>
                  <a:srgbClr val="F2A93C"/>
                </a:solidFill>
                <a:latin typeface="Arial" pitchFamily="34" charset="0"/>
                <a:ea typeface="Arial" pitchFamily="34" charset="-122"/>
                <a:cs typeface="Arial" pitchFamily="34" charset="-120"/>
              </a:rPr>
              <a:t>Backward-looking</a:t>
            </a:r>
            <a:endParaRPr lang="en-US" sz="1400" dirty="0"/>
          </a:p>
        </p:txBody>
      </p:sp>
      <p:sp>
        <p:nvSpPr>
          <p:cNvPr id="9" name="Text 7"/>
          <p:cNvSpPr/>
          <p:nvPr/>
        </p:nvSpPr>
        <p:spPr>
          <a:xfrm>
            <a:off x="777240" y="3767328"/>
            <a:ext cx="7772400" cy="457200"/>
          </a:xfrm>
          <a:prstGeom prst="rect">
            <a:avLst/>
          </a:prstGeom>
          <a:noFill/>
          <a:ln/>
        </p:spPr>
        <p:txBody>
          <a:bodyPr wrap="square" rtlCol="0" anchor="ctr"/>
          <a:lstStyle/>
          <a:p>
            <a:pPr indent="0" marL="0">
              <a:lnSpc>
                <a:spcPts val="1500"/>
              </a:lnSpc>
              <a:buNone/>
            </a:pPr>
            <a:r>
              <a:rPr lang="en-US" sz="1150" dirty="0">
                <a:solidFill>
                  <a:srgbClr val="E7ECF2"/>
                </a:solidFill>
                <a:latin typeface="Arial" pitchFamily="34" charset="0"/>
                <a:ea typeface="Arial" pitchFamily="34" charset="-122"/>
                <a:cs typeface="Arial" pitchFamily="34" charset="-120"/>
              </a:rPr>
              <a:t>Dashboards show what happened last week, not what's forming right now.</a:t>
            </a:r>
            <a:endParaRPr lang="en-US" sz="1150" dirty="0"/>
          </a:p>
        </p:txBody>
      </p:sp>
      <p:sp>
        <p:nvSpPr>
          <p:cNvPr id="10" name="Shape 8"/>
          <p:cNvSpPr/>
          <p:nvPr/>
        </p:nvSpPr>
        <p:spPr>
          <a:xfrm>
            <a:off x="548640" y="4434840"/>
            <a:ext cx="54864" cy="777240"/>
          </a:xfrm>
          <a:prstGeom prst="rect">
            <a:avLst/>
          </a:prstGeom>
          <a:solidFill>
            <a:srgbClr val="D64545"/>
          </a:solidFill>
          <a:ln/>
        </p:spPr>
      </p:sp>
      <p:sp>
        <p:nvSpPr>
          <p:cNvPr id="11" name="Text 9"/>
          <p:cNvSpPr/>
          <p:nvPr/>
        </p:nvSpPr>
        <p:spPr>
          <a:xfrm>
            <a:off x="777240" y="4389120"/>
            <a:ext cx="5029200" cy="365760"/>
          </a:xfrm>
          <a:prstGeom prst="rect">
            <a:avLst/>
          </a:prstGeom>
          <a:noFill/>
          <a:ln/>
        </p:spPr>
        <p:txBody>
          <a:bodyPr wrap="square" rtlCol="0" anchor="ctr"/>
          <a:lstStyle/>
          <a:p>
            <a:pPr indent="0" marL="0">
              <a:buNone/>
            </a:pPr>
            <a:r>
              <a:rPr lang="en-US" sz="1400" b="1" dirty="0">
                <a:solidFill>
                  <a:srgbClr val="F2A93C"/>
                </a:solidFill>
                <a:latin typeface="Arial" pitchFamily="34" charset="0"/>
                <a:ea typeface="Arial" pitchFamily="34" charset="-122"/>
                <a:cs typeface="Arial" pitchFamily="34" charset="-120"/>
              </a:rPr>
              <a:t>No relationship view</a:t>
            </a:r>
            <a:endParaRPr lang="en-US" sz="1400" dirty="0"/>
          </a:p>
        </p:txBody>
      </p:sp>
      <p:sp>
        <p:nvSpPr>
          <p:cNvPr id="12" name="Text 10"/>
          <p:cNvSpPr/>
          <p:nvPr/>
        </p:nvSpPr>
        <p:spPr>
          <a:xfrm>
            <a:off x="777240" y="4727448"/>
            <a:ext cx="7772400" cy="457200"/>
          </a:xfrm>
          <a:prstGeom prst="rect">
            <a:avLst/>
          </a:prstGeom>
          <a:noFill/>
          <a:ln/>
        </p:spPr>
        <p:txBody>
          <a:bodyPr wrap="square" rtlCol="0" anchor="ctr"/>
          <a:lstStyle/>
          <a:p>
            <a:pPr indent="0" marL="0">
              <a:lnSpc>
                <a:spcPts val="1500"/>
              </a:lnSpc>
              <a:buNone/>
            </a:pPr>
            <a:r>
              <a:rPr lang="en-US" sz="1150" dirty="0">
                <a:solidFill>
                  <a:srgbClr val="E7ECF2"/>
                </a:solidFill>
                <a:latin typeface="Arial" pitchFamily="34" charset="0"/>
                <a:ea typeface="Arial" pitchFamily="34" charset="-122"/>
                <a:cs typeface="Arial" pitchFamily="34" charset="-120"/>
              </a:rPr>
              <a:t>Suspects, locations, and MOs live in separate reports; the connections are invisible.</a:t>
            </a:r>
            <a:endParaRPr lang="en-US" sz="1150" dirty="0"/>
          </a:p>
        </p:txBody>
      </p:sp>
      <p:sp>
        <p:nvSpPr>
          <p:cNvPr id="13" name="Shape 11"/>
          <p:cNvSpPr/>
          <p:nvPr/>
        </p:nvSpPr>
        <p:spPr>
          <a:xfrm>
            <a:off x="548640" y="5394960"/>
            <a:ext cx="54864" cy="777240"/>
          </a:xfrm>
          <a:prstGeom prst="rect">
            <a:avLst/>
          </a:prstGeom>
          <a:solidFill>
            <a:srgbClr val="D64545"/>
          </a:solidFill>
          <a:ln/>
        </p:spPr>
      </p:sp>
      <p:sp>
        <p:nvSpPr>
          <p:cNvPr id="14" name="Text 12"/>
          <p:cNvSpPr/>
          <p:nvPr/>
        </p:nvSpPr>
        <p:spPr>
          <a:xfrm>
            <a:off x="777240" y="5349240"/>
            <a:ext cx="5029200" cy="365760"/>
          </a:xfrm>
          <a:prstGeom prst="rect">
            <a:avLst/>
          </a:prstGeom>
          <a:noFill/>
          <a:ln/>
        </p:spPr>
        <p:txBody>
          <a:bodyPr wrap="square" rtlCol="0" anchor="ctr"/>
          <a:lstStyle/>
          <a:p>
            <a:pPr indent="0" marL="0">
              <a:buNone/>
            </a:pPr>
            <a:r>
              <a:rPr lang="en-US" sz="1400" b="1" dirty="0">
                <a:solidFill>
                  <a:srgbClr val="F2A93C"/>
                </a:solidFill>
                <a:latin typeface="Arial" pitchFamily="34" charset="0"/>
                <a:ea typeface="Arial" pitchFamily="34" charset="-122"/>
                <a:cs typeface="Arial" pitchFamily="34" charset="-120"/>
              </a:rPr>
              <a:t>Manual anomaly spotting</a:t>
            </a:r>
            <a:endParaRPr lang="en-US" sz="1400" dirty="0"/>
          </a:p>
        </p:txBody>
      </p:sp>
      <p:sp>
        <p:nvSpPr>
          <p:cNvPr id="15" name="Text 13"/>
          <p:cNvSpPr/>
          <p:nvPr/>
        </p:nvSpPr>
        <p:spPr>
          <a:xfrm>
            <a:off x="777240" y="5687568"/>
            <a:ext cx="7772400" cy="457200"/>
          </a:xfrm>
          <a:prstGeom prst="rect">
            <a:avLst/>
          </a:prstGeom>
          <a:noFill/>
          <a:ln/>
        </p:spPr>
        <p:txBody>
          <a:bodyPr wrap="square" rtlCol="0" anchor="ctr"/>
          <a:lstStyle/>
          <a:p>
            <a:pPr indent="0" marL="0">
              <a:lnSpc>
                <a:spcPts val="1500"/>
              </a:lnSpc>
              <a:buNone/>
            </a:pPr>
            <a:r>
              <a:rPr lang="en-US" sz="1150" dirty="0">
                <a:solidFill>
                  <a:srgbClr val="E7ECF2"/>
                </a:solidFill>
                <a:latin typeface="Arial" pitchFamily="34" charset="0"/>
                <a:ea typeface="Arial" pitchFamily="34" charset="-122"/>
                <a:cs typeface="Arial" pitchFamily="34" charset="-120"/>
              </a:rPr>
              <a:t>An unusual spike in a district only gets noticed if someone happens to look.</a:t>
            </a:r>
            <a:endParaRPr lang="en-US" sz="1150" dirty="0"/>
          </a:p>
        </p:txBody>
      </p:sp>
      <p:sp>
        <p:nvSpPr>
          <p:cNvPr id="16" name="Text 14"/>
          <p:cNvSpPr/>
          <p:nvPr/>
        </p:nvSpPr>
        <p:spPr>
          <a:xfrm>
            <a:off x="548640" y="6446520"/>
            <a:ext cx="2743200" cy="274320"/>
          </a:xfrm>
          <a:prstGeom prst="rect">
            <a:avLst/>
          </a:prstGeom>
          <a:noFill/>
          <a:ln/>
        </p:spPr>
        <p:txBody>
          <a:bodyPr wrap="square" rtlCol="0" anchor="ctr"/>
          <a:lstStyle/>
          <a:p>
            <a:pPr indent="0" marL="0">
              <a:buNone/>
            </a:pPr>
            <a:r>
              <a:rPr lang="en-US" sz="900" b="1" spc="100" kern="0" dirty="0">
                <a:solidFill>
                  <a:srgbClr val="8FA0B3"/>
                </a:solidFill>
                <a:latin typeface="Arial" pitchFamily="34" charset="0"/>
                <a:ea typeface="Arial" pitchFamily="34" charset="-122"/>
                <a:cs typeface="Arial" pitchFamily="34" charset="-120"/>
              </a:rPr>
              <a:t>KSP · CIAP</a:t>
            </a:r>
            <a:endParaRPr lang="en-US" sz="900" dirty="0"/>
          </a:p>
        </p:txBody>
      </p:sp>
      <p:sp>
        <p:nvSpPr>
          <p:cNvPr id="17" name="Text 15"/>
          <p:cNvSpPr/>
          <p:nvPr/>
        </p:nvSpPr>
        <p:spPr>
          <a:xfrm>
            <a:off x="11521440" y="6446520"/>
            <a:ext cx="548640" cy="274320"/>
          </a:xfrm>
          <a:prstGeom prst="rect">
            <a:avLst/>
          </a:prstGeom>
          <a:noFill/>
          <a:ln/>
        </p:spPr>
        <p:txBody>
          <a:bodyPr wrap="square" rtlCol="0" anchor="ctr"/>
          <a:lstStyle/>
          <a:p>
            <a:pPr indent="0" marL="0">
              <a:buNone/>
            </a:pPr>
            <a:r>
              <a:rPr lang="en-US" sz="1000" dirty="0">
                <a:solidFill>
                  <a:srgbClr val="8FA0B3"/>
                </a:solidFill>
                <a:latin typeface="Consolas" pitchFamily="34" charset="0"/>
                <a:ea typeface="Consolas" pitchFamily="34" charset="-122"/>
                <a:cs typeface="Consolas"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100" b="1" spc="200" kern="0" dirty="0">
                <a:solidFill>
                  <a:srgbClr val="F2A93C"/>
                </a:solidFill>
                <a:latin typeface="Arial" pitchFamily="34" charset="0"/>
                <a:ea typeface="Arial" pitchFamily="34" charset="-122"/>
                <a:cs typeface="Arial" pitchFamily="34" charset="-120"/>
              </a:rPr>
              <a:t>THE SOLUTION</a:t>
            </a:r>
            <a:endParaRPr lang="en-US" sz="1100" dirty="0"/>
          </a:p>
        </p:txBody>
      </p:sp>
      <p:sp>
        <p:nvSpPr>
          <p:cNvPr id="3" name="Text 1"/>
          <p:cNvSpPr/>
          <p:nvPr/>
        </p:nvSpPr>
        <p:spPr>
          <a:xfrm>
            <a:off x="548640" y="777240"/>
            <a:ext cx="10515600" cy="1188720"/>
          </a:xfrm>
          <a:prstGeom prst="rect">
            <a:avLst/>
          </a:prstGeom>
          <a:noFill/>
          <a:ln/>
        </p:spPr>
        <p:txBody>
          <a:bodyPr wrap="square" rtlCol="0" anchor="ctr"/>
          <a:lstStyle/>
          <a:p>
            <a:pPr indent="0" marL="0">
              <a:lnSpc>
                <a:spcPts val="3000"/>
              </a:lnSpc>
              <a:buNone/>
            </a:pPr>
            <a:r>
              <a:rPr lang="en-US" sz="2600" b="1" dirty="0">
                <a:solidFill>
                  <a:srgbClr val="FFFFFF"/>
                </a:solidFill>
                <a:latin typeface="Arial" pitchFamily="34" charset="0"/>
                <a:ea typeface="Arial" pitchFamily="34" charset="-122"/>
                <a:cs typeface="Arial" pitchFamily="34" charset="-120"/>
              </a:rPr>
              <a:t>One platform. Four capabilities</a:t>
            </a:r>
            <a:endParaRPr lang="en-US" sz="2600" dirty="0"/>
          </a:p>
          <a:p>
            <a:pPr indent="0" marL="0">
              <a:lnSpc>
                <a:spcPts val="3000"/>
              </a:lnSpc>
              <a:buNone/>
            </a:pPr>
            <a:r>
              <a:rPr lang="en-US" sz="2600" b="1" dirty="0">
                <a:solidFill>
                  <a:srgbClr val="FFFFFF"/>
                </a:solidFill>
                <a:latin typeface="Arial" pitchFamily="34" charset="0"/>
                <a:ea typeface="Arial" pitchFamily="34" charset="-122"/>
                <a:cs typeface="Arial" pitchFamily="34" charset="-120"/>
              </a:rPr>
              <a:t>that mirror how an analyst works a case.</a:t>
            </a:r>
            <a:endParaRPr lang="en-US" sz="2600" dirty="0"/>
          </a:p>
        </p:txBody>
      </p:sp>
      <p:sp>
        <p:nvSpPr>
          <p:cNvPr id="4" name="Shape 2"/>
          <p:cNvSpPr/>
          <p:nvPr/>
        </p:nvSpPr>
        <p:spPr>
          <a:xfrm>
            <a:off x="548640" y="2286000"/>
            <a:ext cx="2697480" cy="3291840"/>
          </a:xfrm>
          <a:prstGeom prst="rect">
            <a:avLst/>
          </a:prstGeom>
          <a:solidFill>
            <a:srgbClr val="141B24"/>
          </a:solidFill>
          <a:ln w="12700">
            <a:solidFill>
              <a:srgbClr val="1E2733"/>
            </a:solidFill>
            <a:prstDash val="solid"/>
          </a:ln>
        </p:spPr>
      </p:sp>
      <p:sp>
        <p:nvSpPr>
          <p:cNvPr id="5" name="Shape 3"/>
          <p:cNvSpPr/>
          <p:nvPr/>
        </p:nvSpPr>
        <p:spPr>
          <a:xfrm>
            <a:off x="548640" y="2286000"/>
            <a:ext cx="2697480" cy="73152"/>
          </a:xfrm>
          <a:prstGeom prst="rect">
            <a:avLst/>
          </a:prstGeom>
          <a:solidFill>
            <a:srgbClr val="2A8C8C"/>
          </a:solidFill>
          <a:ln/>
        </p:spPr>
      </p:sp>
      <p:sp>
        <p:nvSpPr>
          <p:cNvPr id="6" name="Text 4"/>
          <p:cNvSpPr/>
          <p:nvPr/>
        </p:nvSpPr>
        <p:spPr>
          <a:xfrm>
            <a:off x="731520" y="2560320"/>
            <a:ext cx="2331720" cy="320040"/>
          </a:xfrm>
          <a:prstGeom prst="rect">
            <a:avLst/>
          </a:prstGeom>
          <a:noFill/>
          <a:ln/>
        </p:spPr>
        <p:txBody>
          <a:bodyPr wrap="square" rtlCol="0" anchor="ctr"/>
          <a:lstStyle/>
          <a:p>
            <a:pPr indent="0" marL="0">
              <a:buNone/>
            </a:pPr>
            <a:r>
              <a:rPr lang="en-US" sz="950" spc="150" kern="0" dirty="0">
                <a:solidFill>
                  <a:srgbClr val="2A8C8C"/>
                </a:solidFill>
                <a:latin typeface="Consolas" pitchFamily="34" charset="0"/>
                <a:ea typeface="Consolas" pitchFamily="34" charset="-122"/>
                <a:cs typeface="Consolas" pitchFamily="34" charset="-120"/>
              </a:rPr>
              <a:t>SEE WHERE</a:t>
            </a:r>
            <a:endParaRPr lang="en-US" sz="950" dirty="0"/>
          </a:p>
        </p:txBody>
      </p:sp>
      <p:sp>
        <p:nvSpPr>
          <p:cNvPr id="7" name="Text 5"/>
          <p:cNvSpPr/>
          <p:nvPr/>
        </p:nvSpPr>
        <p:spPr>
          <a:xfrm>
            <a:off x="731520" y="2926080"/>
            <a:ext cx="2331720" cy="1005840"/>
          </a:xfrm>
          <a:prstGeom prst="rect">
            <a:avLst/>
          </a:prstGeom>
          <a:noFill/>
          <a:ln/>
        </p:spPr>
        <p:txBody>
          <a:bodyPr wrap="square" rtlCol="0" anchor="ctr"/>
          <a:lstStyle/>
          <a:p>
            <a:pPr indent="0" marL="0">
              <a:lnSpc>
                <a:spcPts val="1800"/>
              </a:lnSpc>
              <a:buNone/>
            </a:pPr>
            <a:r>
              <a:rPr lang="en-US" sz="1500" b="1" dirty="0">
                <a:solidFill>
                  <a:srgbClr val="FFFFFF"/>
                </a:solidFill>
                <a:latin typeface="Arial" pitchFamily="34" charset="0"/>
                <a:ea typeface="Arial" pitchFamily="34" charset="-122"/>
                <a:cs typeface="Arial" pitchFamily="34" charset="-120"/>
              </a:rPr>
              <a:t>Geospatial hotspot engine</a:t>
            </a:r>
            <a:endParaRPr lang="en-US" sz="1500" dirty="0"/>
          </a:p>
        </p:txBody>
      </p:sp>
      <p:sp>
        <p:nvSpPr>
          <p:cNvPr id="8" name="Text 6"/>
          <p:cNvSpPr/>
          <p:nvPr/>
        </p:nvSpPr>
        <p:spPr>
          <a:xfrm>
            <a:off x="731520" y="3977640"/>
            <a:ext cx="2331720" cy="1371600"/>
          </a:xfrm>
          <a:prstGeom prst="rect">
            <a:avLst/>
          </a:prstGeom>
          <a:noFill/>
          <a:ln/>
        </p:spPr>
        <p:txBody>
          <a:bodyPr wrap="square" rtlCol="0" anchor="ctr"/>
          <a:lstStyle/>
          <a:p>
            <a:pPr indent="0" marL="0">
              <a:lnSpc>
                <a:spcPts val="1400"/>
              </a:lnSpc>
              <a:buNone/>
            </a:pPr>
            <a:r>
              <a:rPr lang="en-US" sz="1050" dirty="0">
                <a:solidFill>
                  <a:srgbClr val="E7ECF2"/>
                </a:solidFill>
                <a:latin typeface="Arial" pitchFamily="34" charset="0"/>
                <a:ea typeface="Arial" pitchFamily="34" charset="-122"/>
                <a:cs typeface="Arial" pitchFamily="34" charset="-120"/>
              </a:rPr>
              <a:t>24h animated density map across districts</a:t>
            </a:r>
            <a:endParaRPr lang="en-US" sz="1050" dirty="0"/>
          </a:p>
        </p:txBody>
      </p:sp>
      <p:sp>
        <p:nvSpPr>
          <p:cNvPr id="9" name="Shape 7"/>
          <p:cNvSpPr/>
          <p:nvPr/>
        </p:nvSpPr>
        <p:spPr>
          <a:xfrm>
            <a:off x="3474720" y="2286000"/>
            <a:ext cx="2697480" cy="3291840"/>
          </a:xfrm>
          <a:prstGeom prst="rect">
            <a:avLst/>
          </a:prstGeom>
          <a:solidFill>
            <a:srgbClr val="141B24"/>
          </a:solidFill>
          <a:ln w="12700">
            <a:solidFill>
              <a:srgbClr val="1E2733"/>
            </a:solidFill>
            <a:prstDash val="solid"/>
          </a:ln>
        </p:spPr>
      </p:sp>
      <p:sp>
        <p:nvSpPr>
          <p:cNvPr id="10" name="Shape 8"/>
          <p:cNvSpPr/>
          <p:nvPr/>
        </p:nvSpPr>
        <p:spPr>
          <a:xfrm>
            <a:off x="3474720" y="2286000"/>
            <a:ext cx="2697480" cy="73152"/>
          </a:xfrm>
          <a:prstGeom prst="rect">
            <a:avLst/>
          </a:prstGeom>
          <a:solidFill>
            <a:srgbClr val="D64545"/>
          </a:solidFill>
          <a:ln/>
        </p:spPr>
      </p:sp>
      <p:sp>
        <p:nvSpPr>
          <p:cNvPr id="11" name="Text 9"/>
          <p:cNvSpPr/>
          <p:nvPr/>
        </p:nvSpPr>
        <p:spPr>
          <a:xfrm>
            <a:off x="3657600" y="2560320"/>
            <a:ext cx="2331720" cy="320040"/>
          </a:xfrm>
          <a:prstGeom prst="rect">
            <a:avLst/>
          </a:prstGeom>
          <a:noFill/>
          <a:ln/>
        </p:spPr>
        <p:txBody>
          <a:bodyPr wrap="square" rtlCol="0" anchor="ctr"/>
          <a:lstStyle/>
          <a:p>
            <a:pPr indent="0" marL="0">
              <a:buNone/>
            </a:pPr>
            <a:r>
              <a:rPr lang="en-US" sz="950" spc="150" kern="0" dirty="0">
                <a:solidFill>
                  <a:srgbClr val="D64545"/>
                </a:solidFill>
                <a:latin typeface="Consolas" pitchFamily="34" charset="0"/>
                <a:ea typeface="Consolas" pitchFamily="34" charset="-122"/>
                <a:cs typeface="Consolas" pitchFamily="34" charset="-120"/>
              </a:rPr>
              <a:t>SEE WHO</a:t>
            </a:r>
            <a:endParaRPr lang="en-US" sz="950" dirty="0"/>
          </a:p>
        </p:txBody>
      </p:sp>
      <p:sp>
        <p:nvSpPr>
          <p:cNvPr id="12" name="Text 10"/>
          <p:cNvSpPr/>
          <p:nvPr/>
        </p:nvSpPr>
        <p:spPr>
          <a:xfrm>
            <a:off x="3657600" y="2926080"/>
            <a:ext cx="2331720" cy="1005840"/>
          </a:xfrm>
          <a:prstGeom prst="rect">
            <a:avLst/>
          </a:prstGeom>
          <a:noFill/>
          <a:ln/>
        </p:spPr>
        <p:txBody>
          <a:bodyPr wrap="square" rtlCol="0" anchor="ctr"/>
          <a:lstStyle/>
          <a:p>
            <a:pPr indent="0" marL="0">
              <a:lnSpc>
                <a:spcPts val="1800"/>
              </a:lnSpc>
              <a:buNone/>
            </a:pPr>
            <a:r>
              <a:rPr lang="en-US" sz="1500" b="1" dirty="0">
                <a:solidFill>
                  <a:srgbClr val="FFFFFF"/>
                </a:solidFill>
                <a:latin typeface="Arial" pitchFamily="34" charset="0"/>
                <a:ea typeface="Arial" pitchFamily="34" charset="-122"/>
                <a:cs typeface="Arial" pitchFamily="34" charset="-120"/>
              </a:rPr>
              <a:t>Graph-based link analysis</a:t>
            </a:r>
            <a:endParaRPr lang="en-US" sz="1500" dirty="0"/>
          </a:p>
        </p:txBody>
      </p:sp>
      <p:sp>
        <p:nvSpPr>
          <p:cNvPr id="13" name="Text 11"/>
          <p:cNvSpPr/>
          <p:nvPr/>
        </p:nvSpPr>
        <p:spPr>
          <a:xfrm>
            <a:off x="3657600" y="3977640"/>
            <a:ext cx="2331720" cy="1371600"/>
          </a:xfrm>
          <a:prstGeom prst="rect">
            <a:avLst/>
          </a:prstGeom>
          <a:noFill/>
          <a:ln/>
        </p:spPr>
        <p:txBody>
          <a:bodyPr wrap="square" rtlCol="0" anchor="ctr"/>
          <a:lstStyle/>
          <a:p>
            <a:pPr indent="0" marL="0">
              <a:lnSpc>
                <a:spcPts val="1400"/>
              </a:lnSpc>
              <a:buNone/>
            </a:pPr>
            <a:r>
              <a:rPr lang="en-US" sz="1050" dirty="0">
                <a:solidFill>
                  <a:srgbClr val="E7ECF2"/>
                </a:solidFill>
                <a:latin typeface="Arial" pitchFamily="34" charset="0"/>
                <a:ea typeface="Arial" pitchFamily="34" charset="-122"/>
                <a:cs typeface="Arial" pitchFamily="34" charset="-120"/>
              </a:rPr>
              <a:t>Suspect–location–MO network, shared-location traversal</a:t>
            </a:r>
            <a:endParaRPr lang="en-US" sz="1050" dirty="0"/>
          </a:p>
        </p:txBody>
      </p:sp>
      <p:sp>
        <p:nvSpPr>
          <p:cNvPr id="14" name="Shape 12"/>
          <p:cNvSpPr/>
          <p:nvPr/>
        </p:nvSpPr>
        <p:spPr>
          <a:xfrm>
            <a:off x="6400800" y="2286000"/>
            <a:ext cx="2697480" cy="3291840"/>
          </a:xfrm>
          <a:prstGeom prst="rect">
            <a:avLst/>
          </a:prstGeom>
          <a:solidFill>
            <a:srgbClr val="141B24"/>
          </a:solidFill>
          <a:ln w="12700">
            <a:solidFill>
              <a:srgbClr val="1E2733"/>
            </a:solidFill>
            <a:prstDash val="solid"/>
          </a:ln>
        </p:spPr>
      </p:sp>
      <p:sp>
        <p:nvSpPr>
          <p:cNvPr id="15" name="Shape 13"/>
          <p:cNvSpPr/>
          <p:nvPr/>
        </p:nvSpPr>
        <p:spPr>
          <a:xfrm>
            <a:off x="6400800" y="2286000"/>
            <a:ext cx="2697480" cy="73152"/>
          </a:xfrm>
          <a:prstGeom prst="rect">
            <a:avLst/>
          </a:prstGeom>
          <a:solidFill>
            <a:srgbClr val="F2A93C"/>
          </a:solidFill>
          <a:ln/>
        </p:spPr>
      </p:sp>
      <p:sp>
        <p:nvSpPr>
          <p:cNvPr id="16" name="Text 14"/>
          <p:cNvSpPr/>
          <p:nvPr/>
        </p:nvSpPr>
        <p:spPr>
          <a:xfrm>
            <a:off x="6583680" y="2560320"/>
            <a:ext cx="2331720" cy="320040"/>
          </a:xfrm>
          <a:prstGeom prst="rect">
            <a:avLst/>
          </a:prstGeom>
          <a:noFill/>
          <a:ln/>
        </p:spPr>
        <p:txBody>
          <a:bodyPr wrap="square" rtlCol="0" anchor="ctr"/>
          <a:lstStyle/>
          <a:p>
            <a:pPr indent="0" marL="0">
              <a:buNone/>
            </a:pPr>
            <a:r>
              <a:rPr lang="en-US" sz="950" spc="150" kern="0" dirty="0">
                <a:solidFill>
                  <a:srgbClr val="F2A93C"/>
                </a:solidFill>
                <a:latin typeface="Consolas" pitchFamily="34" charset="0"/>
                <a:ea typeface="Consolas" pitchFamily="34" charset="-122"/>
                <a:cs typeface="Consolas" pitchFamily="34" charset="-120"/>
              </a:rPr>
              <a:t>SEE WHAT'S COMING</a:t>
            </a:r>
            <a:endParaRPr lang="en-US" sz="950" dirty="0"/>
          </a:p>
        </p:txBody>
      </p:sp>
      <p:sp>
        <p:nvSpPr>
          <p:cNvPr id="17" name="Text 15"/>
          <p:cNvSpPr/>
          <p:nvPr/>
        </p:nvSpPr>
        <p:spPr>
          <a:xfrm>
            <a:off x="6583680" y="2926080"/>
            <a:ext cx="2331720" cy="1005840"/>
          </a:xfrm>
          <a:prstGeom prst="rect">
            <a:avLst/>
          </a:prstGeom>
          <a:noFill/>
          <a:ln/>
        </p:spPr>
        <p:txBody>
          <a:bodyPr wrap="square" rtlCol="0" anchor="ctr"/>
          <a:lstStyle/>
          <a:p>
            <a:pPr indent="0" marL="0">
              <a:lnSpc>
                <a:spcPts val="1800"/>
              </a:lnSpc>
              <a:buNone/>
            </a:pPr>
            <a:r>
              <a:rPr lang="en-US" sz="1500" b="1" dirty="0">
                <a:solidFill>
                  <a:srgbClr val="FFFFFF"/>
                </a:solidFill>
                <a:latin typeface="Arial" pitchFamily="34" charset="0"/>
                <a:ea typeface="Arial" pitchFamily="34" charset="-122"/>
                <a:cs typeface="Arial" pitchFamily="34" charset="-120"/>
              </a:rPr>
              <a:t>Predictive risk scoring</a:t>
            </a:r>
            <a:endParaRPr lang="en-US" sz="1500" dirty="0"/>
          </a:p>
        </p:txBody>
      </p:sp>
      <p:sp>
        <p:nvSpPr>
          <p:cNvPr id="18" name="Text 16"/>
          <p:cNvSpPr/>
          <p:nvPr/>
        </p:nvSpPr>
        <p:spPr>
          <a:xfrm>
            <a:off x="6583680" y="3977640"/>
            <a:ext cx="2331720" cy="1371600"/>
          </a:xfrm>
          <a:prstGeom prst="rect">
            <a:avLst/>
          </a:prstGeom>
          <a:noFill/>
          <a:ln/>
        </p:spPr>
        <p:txBody>
          <a:bodyPr wrap="square" rtlCol="0" anchor="ctr"/>
          <a:lstStyle/>
          <a:p>
            <a:pPr indent="0" marL="0">
              <a:lnSpc>
                <a:spcPts val="1400"/>
              </a:lnSpc>
              <a:buNone/>
            </a:pPr>
            <a:r>
              <a:rPr lang="en-US" sz="1050" dirty="0">
                <a:solidFill>
                  <a:srgbClr val="E7ECF2"/>
                </a:solidFill>
                <a:latin typeface="Arial" pitchFamily="34" charset="0"/>
                <a:ea typeface="Arial" pitchFamily="34" charset="-122"/>
                <a:cs typeface="Arial" pitchFamily="34" charset="-120"/>
              </a:rPr>
              <a:t>IsolationForest anomaly detection vs. rolling baseline</a:t>
            </a:r>
            <a:endParaRPr lang="en-US" sz="1050" dirty="0"/>
          </a:p>
        </p:txBody>
      </p:sp>
      <p:sp>
        <p:nvSpPr>
          <p:cNvPr id="19" name="Shape 17"/>
          <p:cNvSpPr/>
          <p:nvPr/>
        </p:nvSpPr>
        <p:spPr>
          <a:xfrm>
            <a:off x="9326880" y="2286000"/>
            <a:ext cx="2697480" cy="3291840"/>
          </a:xfrm>
          <a:prstGeom prst="rect">
            <a:avLst/>
          </a:prstGeom>
          <a:solidFill>
            <a:srgbClr val="141B24"/>
          </a:solidFill>
          <a:ln w="12700">
            <a:solidFill>
              <a:srgbClr val="1E2733"/>
            </a:solidFill>
            <a:prstDash val="solid"/>
          </a:ln>
        </p:spPr>
      </p:sp>
      <p:sp>
        <p:nvSpPr>
          <p:cNvPr id="20" name="Shape 18"/>
          <p:cNvSpPr/>
          <p:nvPr/>
        </p:nvSpPr>
        <p:spPr>
          <a:xfrm>
            <a:off x="9326880" y="2286000"/>
            <a:ext cx="2697480" cy="73152"/>
          </a:xfrm>
          <a:prstGeom prst="rect">
            <a:avLst/>
          </a:prstGeom>
          <a:solidFill>
            <a:srgbClr val="2A8C8C"/>
          </a:solidFill>
          <a:ln/>
        </p:spPr>
      </p:sp>
      <p:sp>
        <p:nvSpPr>
          <p:cNvPr id="21" name="Text 19"/>
          <p:cNvSpPr/>
          <p:nvPr/>
        </p:nvSpPr>
        <p:spPr>
          <a:xfrm>
            <a:off x="9509760" y="2560320"/>
            <a:ext cx="2331720" cy="320040"/>
          </a:xfrm>
          <a:prstGeom prst="rect">
            <a:avLst/>
          </a:prstGeom>
          <a:noFill/>
          <a:ln/>
        </p:spPr>
        <p:txBody>
          <a:bodyPr wrap="square" rtlCol="0" anchor="ctr"/>
          <a:lstStyle/>
          <a:p>
            <a:pPr indent="0" marL="0">
              <a:buNone/>
            </a:pPr>
            <a:r>
              <a:rPr lang="en-US" sz="950" spc="150" kern="0" dirty="0">
                <a:solidFill>
                  <a:srgbClr val="2A8C8C"/>
                </a:solidFill>
                <a:latin typeface="Consolas" pitchFamily="34" charset="0"/>
                <a:ea typeface="Consolas" pitchFamily="34" charset="-122"/>
                <a:cs typeface="Consolas" pitchFamily="34" charset="-120"/>
              </a:rPr>
              <a:t>ACT ON IT</a:t>
            </a:r>
            <a:endParaRPr lang="en-US" sz="950" dirty="0"/>
          </a:p>
        </p:txBody>
      </p:sp>
      <p:sp>
        <p:nvSpPr>
          <p:cNvPr id="22" name="Text 20"/>
          <p:cNvSpPr/>
          <p:nvPr/>
        </p:nvSpPr>
        <p:spPr>
          <a:xfrm>
            <a:off x="9509760" y="2926080"/>
            <a:ext cx="2331720" cy="1005840"/>
          </a:xfrm>
          <a:prstGeom prst="rect">
            <a:avLst/>
          </a:prstGeom>
          <a:noFill/>
          <a:ln/>
        </p:spPr>
        <p:txBody>
          <a:bodyPr wrap="square" rtlCol="0" anchor="ctr"/>
          <a:lstStyle/>
          <a:p>
            <a:pPr indent="0" marL="0">
              <a:lnSpc>
                <a:spcPts val="1800"/>
              </a:lnSpc>
              <a:buNone/>
            </a:pPr>
            <a:r>
              <a:rPr lang="en-US" sz="1500" b="1" dirty="0">
                <a:solidFill>
                  <a:srgbClr val="FFFFFF"/>
                </a:solidFill>
                <a:latin typeface="Arial" pitchFamily="34" charset="0"/>
                <a:ea typeface="Arial" pitchFamily="34" charset="-122"/>
                <a:cs typeface="Arial" pitchFamily="34" charset="-120"/>
              </a:rPr>
              <a:t>Role-gated alert center</a:t>
            </a:r>
            <a:endParaRPr lang="en-US" sz="1500" dirty="0"/>
          </a:p>
        </p:txBody>
      </p:sp>
      <p:sp>
        <p:nvSpPr>
          <p:cNvPr id="23" name="Text 21"/>
          <p:cNvSpPr/>
          <p:nvPr/>
        </p:nvSpPr>
        <p:spPr>
          <a:xfrm>
            <a:off x="9509760" y="3977640"/>
            <a:ext cx="2331720" cy="1371600"/>
          </a:xfrm>
          <a:prstGeom prst="rect">
            <a:avLst/>
          </a:prstGeom>
          <a:noFill/>
          <a:ln/>
        </p:spPr>
        <p:txBody>
          <a:bodyPr wrap="square" rtlCol="0" anchor="ctr"/>
          <a:lstStyle/>
          <a:p>
            <a:pPr indent="0" marL="0">
              <a:lnSpc>
                <a:spcPts val="1400"/>
              </a:lnSpc>
              <a:buNone/>
            </a:pPr>
            <a:r>
              <a:rPr lang="en-US" sz="1050" dirty="0">
                <a:solidFill>
                  <a:srgbClr val="E7ECF2"/>
                </a:solidFill>
                <a:latin typeface="Arial" pitchFamily="34" charset="0"/>
                <a:ea typeface="Arial" pitchFamily="34" charset="-122"/>
                <a:cs typeface="Arial" pitchFamily="34" charset="-120"/>
              </a:rPr>
              <a:t>Officer / Analyst / Admin permissions, enforced server-side</a:t>
            </a:r>
            <a:endParaRPr lang="en-US" sz="1050" dirty="0"/>
          </a:p>
        </p:txBody>
      </p:sp>
      <p:sp>
        <p:nvSpPr>
          <p:cNvPr id="24" name="Text 22"/>
          <p:cNvSpPr/>
          <p:nvPr/>
        </p:nvSpPr>
        <p:spPr>
          <a:xfrm>
            <a:off x="548640" y="6446520"/>
            <a:ext cx="2743200" cy="274320"/>
          </a:xfrm>
          <a:prstGeom prst="rect">
            <a:avLst/>
          </a:prstGeom>
          <a:noFill/>
          <a:ln/>
        </p:spPr>
        <p:txBody>
          <a:bodyPr wrap="square" rtlCol="0" anchor="ctr"/>
          <a:lstStyle/>
          <a:p>
            <a:pPr indent="0" marL="0">
              <a:buNone/>
            </a:pPr>
            <a:r>
              <a:rPr lang="en-US" sz="900" b="1" spc="100" kern="0" dirty="0">
                <a:solidFill>
                  <a:srgbClr val="8FA0B3"/>
                </a:solidFill>
                <a:latin typeface="Arial" pitchFamily="34" charset="0"/>
                <a:ea typeface="Arial" pitchFamily="34" charset="-122"/>
                <a:cs typeface="Arial" pitchFamily="34" charset="-120"/>
              </a:rPr>
              <a:t>KSP · CIAP</a:t>
            </a:r>
            <a:endParaRPr lang="en-US" sz="900" dirty="0"/>
          </a:p>
        </p:txBody>
      </p:sp>
      <p:sp>
        <p:nvSpPr>
          <p:cNvPr id="25" name="Text 23"/>
          <p:cNvSpPr/>
          <p:nvPr/>
        </p:nvSpPr>
        <p:spPr>
          <a:xfrm>
            <a:off x="11521440" y="6446520"/>
            <a:ext cx="548640" cy="274320"/>
          </a:xfrm>
          <a:prstGeom prst="rect">
            <a:avLst/>
          </a:prstGeom>
          <a:noFill/>
          <a:ln/>
        </p:spPr>
        <p:txBody>
          <a:bodyPr wrap="square" rtlCol="0" anchor="ctr"/>
          <a:lstStyle/>
          <a:p>
            <a:pPr indent="0" marL="0">
              <a:buNone/>
            </a:pPr>
            <a:r>
              <a:rPr lang="en-US" sz="1000" dirty="0">
                <a:solidFill>
                  <a:srgbClr val="8FA0B3"/>
                </a:solidFill>
                <a:latin typeface="Consolas" pitchFamily="34" charset="0"/>
                <a:ea typeface="Consolas" pitchFamily="34" charset="-122"/>
                <a:cs typeface="Consolas"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218"/>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100" b="1" spc="200" kern="0" dirty="0">
                <a:solidFill>
                  <a:srgbClr val="F2A93C"/>
                </a:solidFill>
                <a:latin typeface="Arial" pitchFamily="34" charset="0"/>
                <a:ea typeface="Arial" pitchFamily="34" charset="-122"/>
                <a:cs typeface="Arial" pitchFamily="34" charset="-120"/>
              </a:rPr>
              <a:t>SYSTEM ARCHITECTURE</a:t>
            </a:r>
            <a:endParaRPr lang="en-US" sz="1100" dirty="0"/>
          </a:p>
        </p:txBody>
      </p:sp>
      <p:sp>
        <p:nvSpPr>
          <p:cNvPr id="3" name="Text 1"/>
          <p:cNvSpPr/>
          <p:nvPr/>
        </p:nvSpPr>
        <p:spPr>
          <a:xfrm>
            <a:off x="548640" y="777240"/>
            <a:ext cx="9144000" cy="5486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Four independently scalable layers</a:t>
            </a:r>
            <a:endParaRPr lang="en-US" sz="2600" dirty="0"/>
          </a:p>
        </p:txBody>
      </p:sp>
      <p:sp>
        <p:nvSpPr>
          <p:cNvPr id="4" name="Shape 2"/>
          <p:cNvSpPr/>
          <p:nvPr/>
        </p:nvSpPr>
        <p:spPr>
          <a:xfrm>
            <a:off x="548640" y="1920240"/>
            <a:ext cx="11064240" cy="868680"/>
          </a:xfrm>
          <a:prstGeom prst="rect">
            <a:avLst/>
          </a:prstGeom>
          <a:solidFill>
            <a:srgbClr val="141B24"/>
          </a:solidFill>
          <a:ln w="12700">
            <a:solidFill>
              <a:srgbClr val="1E2733"/>
            </a:solidFill>
            <a:prstDash val="solid"/>
          </a:ln>
        </p:spPr>
      </p:sp>
      <p:sp>
        <p:nvSpPr>
          <p:cNvPr id="5" name="Shape 3"/>
          <p:cNvSpPr/>
          <p:nvPr/>
        </p:nvSpPr>
        <p:spPr>
          <a:xfrm>
            <a:off x="548640" y="1920240"/>
            <a:ext cx="73152" cy="868680"/>
          </a:xfrm>
          <a:prstGeom prst="rect">
            <a:avLst/>
          </a:prstGeom>
          <a:solidFill>
            <a:srgbClr val="2A8C8C"/>
          </a:solidFill>
          <a:ln/>
        </p:spPr>
      </p:sp>
      <p:sp>
        <p:nvSpPr>
          <p:cNvPr id="6" name="Text 4"/>
          <p:cNvSpPr/>
          <p:nvPr/>
        </p:nvSpPr>
        <p:spPr>
          <a:xfrm>
            <a:off x="914400" y="2029968"/>
            <a:ext cx="2926080" cy="6400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Presentation</a:t>
            </a:r>
            <a:endParaRPr lang="en-US" sz="1500" dirty="0"/>
          </a:p>
        </p:txBody>
      </p:sp>
      <p:sp>
        <p:nvSpPr>
          <p:cNvPr id="7" name="Text 5"/>
          <p:cNvSpPr/>
          <p:nvPr/>
        </p:nvSpPr>
        <p:spPr>
          <a:xfrm>
            <a:off x="3931920" y="2029968"/>
            <a:ext cx="7406640" cy="640080"/>
          </a:xfrm>
          <a:prstGeom prst="rect">
            <a:avLst/>
          </a:prstGeom>
          <a:noFill/>
          <a:ln/>
        </p:spPr>
        <p:txBody>
          <a:bodyPr wrap="square" rtlCol="0" anchor="ctr"/>
          <a:lstStyle/>
          <a:p>
            <a:pPr indent="0" marL="0">
              <a:buNone/>
            </a:pPr>
            <a:r>
              <a:rPr lang="en-US" sz="1100" dirty="0">
                <a:solidFill>
                  <a:srgbClr val="E7ECF2"/>
                </a:solidFill>
                <a:latin typeface="Consolas" pitchFamily="34" charset="0"/>
                <a:ea typeface="Consolas" pitchFamily="34" charset="-122"/>
                <a:cs typeface="Consolas" pitchFamily="34" charset="-120"/>
              </a:rPr>
              <a:t>React + Recharts + custom force-graph</a:t>
            </a:r>
            <a:endParaRPr lang="en-US" sz="1100" dirty="0"/>
          </a:p>
        </p:txBody>
      </p:sp>
      <p:sp>
        <p:nvSpPr>
          <p:cNvPr id="8" name="Text 6"/>
          <p:cNvSpPr/>
          <p:nvPr/>
        </p:nvSpPr>
        <p:spPr>
          <a:xfrm>
            <a:off x="777240" y="2788920"/>
            <a:ext cx="365760" cy="228600"/>
          </a:xfrm>
          <a:prstGeom prst="rect">
            <a:avLst/>
          </a:prstGeom>
          <a:noFill/>
          <a:ln/>
        </p:spPr>
        <p:txBody>
          <a:bodyPr wrap="square" rtlCol="0" anchor="ctr"/>
          <a:lstStyle/>
          <a:p>
            <a:pPr algn="ctr" indent="0" marL="0">
              <a:buNone/>
            </a:pPr>
            <a:r>
              <a:rPr lang="en-US" sz="1400" dirty="0">
                <a:solidFill>
                  <a:srgbClr val="8FA0B3"/>
                </a:solidFill>
                <a:latin typeface="Arial" pitchFamily="34" charset="0"/>
                <a:ea typeface="Arial" pitchFamily="34" charset="-122"/>
                <a:cs typeface="Arial" pitchFamily="34" charset="-120"/>
              </a:rPr>
              <a:t>↓</a:t>
            </a:r>
            <a:endParaRPr lang="en-US" sz="1400" dirty="0"/>
          </a:p>
        </p:txBody>
      </p:sp>
      <p:sp>
        <p:nvSpPr>
          <p:cNvPr id="9" name="Shape 7"/>
          <p:cNvSpPr/>
          <p:nvPr/>
        </p:nvSpPr>
        <p:spPr>
          <a:xfrm>
            <a:off x="548640" y="3017520"/>
            <a:ext cx="11064240" cy="868680"/>
          </a:xfrm>
          <a:prstGeom prst="rect">
            <a:avLst/>
          </a:prstGeom>
          <a:solidFill>
            <a:srgbClr val="141B24"/>
          </a:solidFill>
          <a:ln w="12700">
            <a:solidFill>
              <a:srgbClr val="1E2733"/>
            </a:solidFill>
            <a:prstDash val="solid"/>
          </a:ln>
        </p:spPr>
      </p:sp>
      <p:sp>
        <p:nvSpPr>
          <p:cNvPr id="10" name="Shape 8"/>
          <p:cNvSpPr/>
          <p:nvPr/>
        </p:nvSpPr>
        <p:spPr>
          <a:xfrm>
            <a:off x="548640" y="3017520"/>
            <a:ext cx="73152" cy="868680"/>
          </a:xfrm>
          <a:prstGeom prst="rect">
            <a:avLst/>
          </a:prstGeom>
          <a:solidFill>
            <a:srgbClr val="F2A93C"/>
          </a:solidFill>
          <a:ln/>
        </p:spPr>
      </p:sp>
      <p:sp>
        <p:nvSpPr>
          <p:cNvPr id="11" name="Text 9"/>
          <p:cNvSpPr/>
          <p:nvPr/>
        </p:nvSpPr>
        <p:spPr>
          <a:xfrm>
            <a:off x="914400" y="3127248"/>
            <a:ext cx="2926080" cy="6400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API</a:t>
            </a:r>
            <a:endParaRPr lang="en-US" sz="1500" dirty="0"/>
          </a:p>
        </p:txBody>
      </p:sp>
      <p:sp>
        <p:nvSpPr>
          <p:cNvPr id="12" name="Text 10"/>
          <p:cNvSpPr/>
          <p:nvPr/>
        </p:nvSpPr>
        <p:spPr>
          <a:xfrm>
            <a:off x="3931920" y="3127248"/>
            <a:ext cx="7406640" cy="640080"/>
          </a:xfrm>
          <a:prstGeom prst="rect">
            <a:avLst/>
          </a:prstGeom>
          <a:noFill/>
          <a:ln/>
        </p:spPr>
        <p:txBody>
          <a:bodyPr wrap="square" rtlCol="0" anchor="ctr"/>
          <a:lstStyle/>
          <a:p>
            <a:pPr indent="0" marL="0">
              <a:buNone/>
            </a:pPr>
            <a:r>
              <a:rPr lang="en-US" sz="1100" dirty="0">
                <a:solidFill>
                  <a:srgbClr val="E7ECF2"/>
                </a:solidFill>
                <a:latin typeface="Consolas" pitchFamily="34" charset="0"/>
                <a:ea typeface="Consolas" pitchFamily="34" charset="-122"/>
                <a:cs typeface="Consolas" pitchFamily="34" charset="-120"/>
              </a:rPr>
              <a:t>FastAPI · JWT auth · Pydantic v2</a:t>
            </a:r>
            <a:endParaRPr lang="en-US" sz="1100" dirty="0"/>
          </a:p>
        </p:txBody>
      </p:sp>
      <p:sp>
        <p:nvSpPr>
          <p:cNvPr id="13" name="Text 11"/>
          <p:cNvSpPr/>
          <p:nvPr/>
        </p:nvSpPr>
        <p:spPr>
          <a:xfrm>
            <a:off x="777240" y="3886200"/>
            <a:ext cx="365760" cy="228600"/>
          </a:xfrm>
          <a:prstGeom prst="rect">
            <a:avLst/>
          </a:prstGeom>
          <a:noFill/>
          <a:ln/>
        </p:spPr>
        <p:txBody>
          <a:bodyPr wrap="square" rtlCol="0" anchor="ctr"/>
          <a:lstStyle/>
          <a:p>
            <a:pPr algn="ctr" indent="0" marL="0">
              <a:buNone/>
            </a:pPr>
            <a:r>
              <a:rPr lang="en-US" sz="1400" dirty="0">
                <a:solidFill>
                  <a:srgbClr val="8FA0B3"/>
                </a:solidFill>
                <a:latin typeface="Arial" pitchFamily="34" charset="0"/>
                <a:ea typeface="Arial" pitchFamily="34" charset="-122"/>
                <a:cs typeface="Arial" pitchFamily="34" charset="-120"/>
              </a:rPr>
              <a:t>↓</a:t>
            </a:r>
            <a:endParaRPr lang="en-US" sz="1400" dirty="0"/>
          </a:p>
        </p:txBody>
      </p:sp>
      <p:sp>
        <p:nvSpPr>
          <p:cNvPr id="14" name="Shape 12"/>
          <p:cNvSpPr/>
          <p:nvPr/>
        </p:nvSpPr>
        <p:spPr>
          <a:xfrm>
            <a:off x="548640" y="4114800"/>
            <a:ext cx="11064240" cy="868680"/>
          </a:xfrm>
          <a:prstGeom prst="rect">
            <a:avLst/>
          </a:prstGeom>
          <a:solidFill>
            <a:srgbClr val="141B24"/>
          </a:solidFill>
          <a:ln w="12700">
            <a:solidFill>
              <a:srgbClr val="1E2733"/>
            </a:solidFill>
            <a:prstDash val="solid"/>
          </a:ln>
        </p:spPr>
      </p:sp>
      <p:sp>
        <p:nvSpPr>
          <p:cNvPr id="15" name="Shape 13"/>
          <p:cNvSpPr/>
          <p:nvPr/>
        </p:nvSpPr>
        <p:spPr>
          <a:xfrm>
            <a:off x="548640" y="4114800"/>
            <a:ext cx="73152" cy="868680"/>
          </a:xfrm>
          <a:prstGeom prst="rect">
            <a:avLst/>
          </a:prstGeom>
          <a:solidFill>
            <a:srgbClr val="D64545"/>
          </a:solidFill>
          <a:ln/>
        </p:spPr>
      </p:sp>
      <p:sp>
        <p:nvSpPr>
          <p:cNvPr id="16" name="Text 14"/>
          <p:cNvSpPr/>
          <p:nvPr/>
        </p:nvSpPr>
        <p:spPr>
          <a:xfrm>
            <a:off x="914400" y="4224528"/>
            <a:ext cx="2926080" cy="6400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Relational + spatial</a:t>
            </a:r>
            <a:endParaRPr lang="en-US" sz="1500" dirty="0"/>
          </a:p>
        </p:txBody>
      </p:sp>
      <p:sp>
        <p:nvSpPr>
          <p:cNvPr id="17" name="Text 15"/>
          <p:cNvSpPr/>
          <p:nvPr/>
        </p:nvSpPr>
        <p:spPr>
          <a:xfrm>
            <a:off x="3931920" y="4224528"/>
            <a:ext cx="7406640" cy="640080"/>
          </a:xfrm>
          <a:prstGeom prst="rect">
            <a:avLst/>
          </a:prstGeom>
          <a:noFill/>
          <a:ln/>
        </p:spPr>
        <p:txBody>
          <a:bodyPr wrap="square" rtlCol="0" anchor="ctr"/>
          <a:lstStyle/>
          <a:p>
            <a:pPr indent="0" marL="0">
              <a:buNone/>
            </a:pPr>
            <a:r>
              <a:rPr lang="en-US" sz="1100" dirty="0">
                <a:solidFill>
                  <a:srgbClr val="E7ECF2"/>
                </a:solidFill>
                <a:latin typeface="Consolas" pitchFamily="34" charset="0"/>
                <a:ea typeface="Consolas" pitchFamily="34" charset="-122"/>
                <a:cs typeface="Consolas" pitchFamily="34" charset="-120"/>
              </a:rPr>
              <a:t>PostgreSQL + PostGIS (GIST-indexed)</a:t>
            </a:r>
            <a:endParaRPr lang="en-US" sz="1100" dirty="0"/>
          </a:p>
        </p:txBody>
      </p:sp>
      <p:sp>
        <p:nvSpPr>
          <p:cNvPr id="18" name="Text 16"/>
          <p:cNvSpPr/>
          <p:nvPr/>
        </p:nvSpPr>
        <p:spPr>
          <a:xfrm>
            <a:off x="777240" y="4983480"/>
            <a:ext cx="365760" cy="228600"/>
          </a:xfrm>
          <a:prstGeom prst="rect">
            <a:avLst/>
          </a:prstGeom>
          <a:noFill/>
          <a:ln/>
        </p:spPr>
        <p:txBody>
          <a:bodyPr wrap="square" rtlCol="0" anchor="ctr"/>
          <a:lstStyle/>
          <a:p>
            <a:pPr algn="ctr" indent="0" marL="0">
              <a:buNone/>
            </a:pPr>
            <a:r>
              <a:rPr lang="en-US" sz="1400" dirty="0">
                <a:solidFill>
                  <a:srgbClr val="8FA0B3"/>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548640" y="5212080"/>
            <a:ext cx="11064240" cy="868680"/>
          </a:xfrm>
          <a:prstGeom prst="rect">
            <a:avLst/>
          </a:prstGeom>
          <a:solidFill>
            <a:srgbClr val="141B24"/>
          </a:solidFill>
          <a:ln w="12700">
            <a:solidFill>
              <a:srgbClr val="1E2733"/>
            </a:solidFill>
            <a:prstDash val="solid"/>
          </a:ln>
        </p:spPr>
      </p:sp>
      <p:sp>
        <p:nvSpPr>
          <p:cNvPr id="20" name="Shape 18"/>
          <p:cNvSpPr/>
          <p:nvPr/>
        </p:nvSpPr>
        <p:spPr>
          <a:xfrm>
            <a:off x="548640" y="5212080"/>
            <a:ext cx="73152" cy="868680"/>
          </a:xfrm>
          <a:prstGeom prst="rect">
            <a:avLst/>
          </a:prstGeom>
          <a:solidFill>
            <a:srgbClr val="2A8C8C"/>
          </a:solidFill>
          <a:ln/>
        </p:spPr>
      </p:sp>
      <p:sp>
        <p:nvSpPr>
          <p:cNvPr id="21" name="Text 19"/>
          <p:cNvSpPr/>
          <p:nvPr/>
        </p:nvSpPr>
        <p:spPr>
          <a:xfrm>
            <a:off x="914400" y="5321808"/>
            <a:ext cx="2926080" cy="64008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Graph</a:t>
            </a:r>
            <a:endParaRPr lang="en-US" sz="1500" dirty="0"/>
          </a:p>
        </p:txBody>
      </p:sp>
      <p:sp>
        <p:nvSpPr>
          <p:cNvPr id="22" name="Text 20"/>
          <p:cNvSpPr/>
          <p:nvPr/>
        </p:nvSpPr>
        <p:spPr>
          <a:xfrm>
            <a:off x="3931920" y="5321808"/>
            <a:ext cx="7406640" cy="640080"/>
          </a:xfrm>
          <a:prstGeom prst="rect">
            <a:avLst/>
          </a:prstGeom>
          <a:noFill/>
          <a:ln/>
        </p:spPr>
        <p:txBody>
          <a:bodyPr wrap="square" rtlCol="0" anchor="ctr"/>
          <a:lstStyle/>
          <a:p>
            <a:pPr indent="0" marL="0">
              <a:buNone/>
            </a:pPr>
            <a:r>
              <a:rPr lang="en-US" sz="1100" dirty="0">
                <a:solidFill>
                  <a:srgbClr val="E7ECF2"/>
                </a:solidFill>
                <a:latin typeface="Consolas" pitchFamily="34" charset="0"/>
                <a:ea typeface="Consolas" pitchFamily="34" charset="-122"/>
                <a:cs typeface="Consolas" pitchFamily="34" charset="-120"/>
              </a:rPr>
              <a:t>Neo4j — suspect/location/incident traversal</a:t>
            </a:r>
            <a:endParaRPr lang="en-US" sz="1100" dirty="0"/>
          </a:p>
        </p:txBody>
      </p:sp>
      <p:sp>
        <p:nvSpPr>
          <p:cNvPr id="23" name="Text 21"/>
          <p:cNvSpPr/>
          <p:nvPr/>
        </p:nvSpPr>
        <p:spPr>
          <a:xfrm>
            <a:off x="548640" y="6446520"/>
            <a:ext cx="2743200" cy="274320"/>
          </a:xfrm>
          <a:prstGeom prst="rect">
            <a:avLst/>
          </a:prstGeom>
          <a:noFill/>
          <a:ln/>
        </p:spPr>
        <p:txBody>
          <a:bodyPr wrap="square" rtlCol="0" anchor="ctr"/>
          <a:lstStyle/>
          <a:p>
            <a:pPr indent="0" marL="0">
              <a:buNone/>
            </a:pPr>
            <a:r>
              <a:rPr lang="en-US" sz="900" b="1" spc="100" kern="0" dirty="0">
                <a:solidFill>
                  <a:srgbClr val="8FA0B3"/>
                </a:solidFill>
                <a:latin typeface="Arial" pitchFamily="34" charset="0"/>
                <a:ea typeface="Arial" pitchFamily="34" charset="-122"/>
                <a:cs typeface="Arial" pitchFamily="34" charset="-120"/>
              </a:rPr>
              <a:t>KSP · CIAP</a:t>
            </a:r>
            <a:endParaRPr lang="en-US" sz="900" dirty="0"/>
          </a:p>
        </p:txBody>
      </p:sp>
      <p:sp>
        <p:nvSpPr>
          <p:cNvPr id="24" name="Text 22"/>
          <p:cNvSpPr/>
          <p:nvPr/>
        </p:nvSpPr>
        <p:spPr>
          <a:xfrm>
            <a:off x="11521440" y="6446520"/>
            <a:ext cx="548640" cy="274320"/>
          </a:xfrm>
          <a:prstGeom prst="rect">
            <a:avLst/>
          </a:prstGeom>
          <a:noFill/>
          <a:ln/>
        </p:spPr>
        <p:txBody>
          <a:bodyPr wrap="square" rtlCol="0" anchor="ctr"/>
          <a:lstStyle/>
          <a:p>
            <a:pPr indent="0" marL="0">
              <a:buNone/>
            </a:pPr>
            <a:r>
              <a:rPr lang="en-US" sz="1000" dirty="0">
                <a:solidFill>
                  <a:srgbClr val="8FA0B3"/>
                </a:solidFill>
                <a:latin typeface="Consolas" pitchFamily="34" charset="0"/>
                <a:ea typeface="Consolas" pitchFamily="34" charset="-122"/>
                <a:cs typeface="Consolas"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100" b="1" spc="200" kern="0" dirty="0">
                <a:solidFill>
                  <a:srgbClr val="F2A93C"/>
                </a:solidFill>
                <a:latin typeface="Arial" pitchFamily="34" charset="0"/>
                <a:ea typeface="Arial" pitchFamily="34" charset="-122"/>
                <a:cs typeface="Arial" pitchFamily="34" charset="-120"/>
              </a:rPr>
              <a:t>PREDICTIVE LAYER</a:t>
            </a:r>
            <a:endParaRPr lang="en-US" sz="1100" dirty="0"/>
          </a:p>
        </p:txBody>
      </p:sp>
      <p:sp>
        <p:nvSpPr>
          <p:cNvPr id="3" name="Text 1"/>
          <p:cNvSpPr/>
          <p:nvPr/>
        </p:nvSpPr>
        <p:spPr>
          <a:xfrm>
            <a:off x="548640" y="777240"/>
            <a:ext cx="9144000" cy="5486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Risk scores, not raw counts</a:t>
            </a:r>
            <a:endParaRPr lang="en-US" sz="2600" dirty="0"/>
          </a:p>
        </p:txBody>
      </p:sp>
      <p:sp>
        <p:nvSpPr>
          <p:cNvPr id="4" name="Text 2"/>
          <p:cNvSpPr/>
          <p:nvPr/>
        </p:nvSpPr>
        <p:spPr>
          <a:xfrm>
            <a:off x="548640" y="1371600"/>
            <a:ext cx="6035040" cy="1005840"/>
          </a:xfrm>
          <a:prstGeom prst="rect">
            <a:avLst/>
          </a:prstGeom>
          <a:noFill/>
          <a:ln/>
        </p:spPr>
        <p:txBody>
          <a:bodyPr wrap="square" rtlCol="0" anchor="ctr"/>
          <a:lstStyle/>
          <a:p>
            <a:pPr indent="0" marL="0">
              <a:lnSpc>
                <a:spcPts val="1600"/>
              </a:lnSpc>
              <a:buNone/>
            </a:pPr>
            <a:r>
              <a:rPr lang="en-US" sz="1200" dirty="0">
                <a:solidFill>
                  <a:srgbClr val="E7ECF2"/>
                </a:solidFill>
                <a:latin typeface="Arial" pitchFamily="34" charset="0"/>
                <a:ea typeface="Arial" pitchFamily="34" charset="-122"/>
                <a:cs typeface="Arial" pitchFamily="34" charset="-120"/>
              </a:rPr>
              <a:t>IsolationForest compares each district's current window against its own rolling baseline — flags anomalies without hand-tuned thresholds per district.</a:t>
            </a:r>
            <a:endParaRPr lang="en-US" sz="1200" dirty="0"/>
          </a:p>
        </p:txBody>
      </p:sp>
      <p:graphicFrame>
        <p:nvGraphicFramePr>
          <p:cNvPr id="5" name="Chart 0" descr=""/>
          <p:cNvGraphicFramePr/>
          <p:nvPr/>
        </p:nvGraphicFramePr>
        <p:xfrm>
          <a:off x="548640" y="2468880"/>
          <a:ext cx="603504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949440" y="2468880"/>
            <a:ext cx="4663440" cy="3566160"/>
          </a:xfrm>
          <a:prstGeom prst="rect">
            <a:avLst/>
          </a:prstGeom>
          <a:solidFill>
            <a:srgbClr val="141B24"/>
          </a:solidFill>
          <a:ln w="12700">
            <a:solidFill>
              <a:srgbClr val="1E2733"/>
            </a:solidFill>
            <a:prstDash val="solid"/>
          </a:ln>
        </p:spPr>
      </p:sp>
      <p:sp>
        <p:nvSpPr>
          <p:cNvPr id="7" name="Text 4"/>
          <p:cNvSpPr/>
          <p:nvPr/>
        </p:nvSpPr>
        <p:spPr>
          <a:xfrm>
            <a:off x="7223760" y="2697480"/>
            <a:ext cx="4114800" cy="320040"/>
          </a:xfrm>
          <a:prstGeom prst="rect">
            <a:avLst/>
          </a:prstGeom>
          <a:noFill/>
          <a:ln/>
        </p:spPr>
        <p:txBody>
          <a:bodyPr wrap="square" rtlCol="0" anchor="ctr"/>
          <a:lstStyle/>
          <a:p>
            <a:pPr indent="0" marL="0">
              <a:buNone/>
            </a:pPr>
            <a:r>
              <a:rPr lang="en-US" sz="1000" spc="150" kern="0" dirty="0">
                <a:solidFill>
                  <a:srgbClr val="F2A93C"/>
                </a:solidFill>
                <a:latin typeface="Consolas" pitchFamily="34" charset="0"/>
                <a:ea typeface="Consolas" pitchFamily="34" charset="-122"/>
                <a:cs typeface="Consolas" pitchFamily="34" charset="-120"/>
              </a:rPr>
              <a:t>HOW IT WORKS</a:t>
            </a:r>
            <a:endParaRPr lang="en-US" sz="1000" dirty="0"/>
          </a:p>
        </p:txBody>
      </p:sp>
      <p:sp>
        <p:nvSpPr>
          <p:cNvPr id="8" name="Text 5"/>
          <p:cNvSpPr/>
          <p:nvPr/>
        </p:nvSpPr>
        <p:spPr>
          <a:xfrm>
            <a:off x="7223760" y="3154680"/>
            <a:ext cx="4114800" cy="2743200"/>
          </a:xfrm>
          <a:prstGeom prst="rect">
            <a:avLst/>
          </a:prstGeom>
          <a:noFill/>
          <a:ln/>
        </p:spPr>
        <p:txBody>
          <a:bodyPr wrap="square" rtlCol="0" anchor="ctr"/>
          <a:lstStyle/>
          <a:p>
            <a:pPr indent="0" marL="0">
              <a:lnSpc>
                <a:spcPts val="2400"/>
              </a:lnSpc>
              <a:buNone/>
            </a:pPr>
            <a:r>
              <a:rPr lang="en-US" sz="1050" dirty="0">
                <a:solidFill>
                  <a:srgbClr val="E7ECF2"/>
                </a:solidFill>
                <a:latin typeface="Consolas" pitchFamily="34" charset="0"/>
                <a:ea typeface="Consolas" pitchFamily="34" charset="-122"/>
                <a:cs typeface="Consolas" pitchFamily="34" charset="-120"/>
              </a:rPr>
              <a:t>1. Bucket incidents by district + hour</a:t>
            </a:r>
            <a:endParaRPr lang="en-US" sz="1050" dirty="0"/>
          </a:p>
          <a:p>
            <a:pPr indent="0" marL="0">
              <a:lnSpc>
                <a:spcPts val="2400"/>
              </a:lnSpc>
              <a:buNone/>
            </a:pPr>
            <a:r>
              <a:rPr lang="en-US" sz="1050" dirty="0">
                <a:solidFill>
                  <a:srgbClr val="E7ECF2"/>
                </a:solidFill>
                <a:latin typeface="Consolas" pitchFamily="34" charset="0"/>
                <a:ea typeface="Consolas" pitchFamily="34" charset="-122"/>
                <a:cs typeface="Consolas" pitchFamily="34" charset="-120"/>
              </a:rPr>
              <a:t>2. Compare volume vs. 90-day rolling baseline</a:t>
            </a:r>
            <a:endParaRPr lang="en-US" sz="1050" dirty="0"/>
          </a:p>
          <a:p>
            <a:pPr indent="0" marL="0">
              <a:lnSpc>
                <a:spcPts val="2400"/>
              </a:lnSpc>
              <a:buNone/>
            </a:pPr>
            <a:r>
              <a:rPr lang="en-US" sz="1050" dirty="0">
                <a:solidFill>
                  <a:srgbClr val="E7ECF2"/>
                </a:solidFill>
                <a:latin typeface="Consolas" pitchFamily="34" charset="0"/>
                <a:ea typeface="Consolas" pitchFamily="34" charset="-122"/>
                <a:cs typeface="Consolas" pitchFamily="34" charset="-120"/>
              </a:rPr>
              <a:t>3. Fit IsolationForest, score contamination</a:t>
            </a:r>
            <a:endParaRPr lang="en-US" sz="1050" dirty="0"/>
          </a:p>
          <a:p>
            <a:pPr indent="0" marL="0">
              <a:lnSpc>
                <a:spcPts val="2400"/>
              </a:lnSpc>
              <a:buNone/>
            </a:pPr>
            <a:r>
              <a:rPr lang="en-US" sz="1050" dirty="0">
                <a:solidFill>
                  <a:srgbClr val="E7ECF2"/>
                </a:solidFill>
                <a:latin typeface="Consolas" pitchFamily="34" charset="0"/>
                <a:ea typeface="Consolas" pitchFamily="34" charset="-122"/>
                <a:cs typeface="Consolas" pitchFamily="34" charset="-120"/>
              </a:rPr>
              <a:t>4. Emit 0–100 score + anomaly boolean</a:t>
            </a:r>
            <a:endParaRPr lang="en-US" sz="1050" dirty="0"/>
          </a:p>
          <a:p>
            <a:pPr indent="0" marL="0">
              <a:lnSpc>
                <a:spcPts val="2400"/>
              </a:lnSpc>
              <a:buNone/>
            </a:pPr>
            <a:r>
              <a:rPr lang="en-US" sz="1050" dirty="0">
                <a:solidFill>
                  <a:srgbClr val="E7ECF2"/>
                </a:solidFill>
                <a:latin typeface="Consolas" pitchFamily="34" charset="0"/>
                <a:ea typeface="Consolas" pitchFamily="34" charset="-122"/>
                <a:cs typeface="Consolas" pitchFamily="34" charset="-120"/>
              </a:rPr>
              <a:t>5. Recompute on schedule (cron / APScheduler)</a:t>
            </a:r>
            <a:endParaRPr lang="en-US" sz="1050" dirty="0"/>
          </a:p>
        </p:txBody>
      </p:sp>
      <p:sp>
        <p:nvSpPr>
          <p:cNvPr id="9" name="Text 6"/>
          <p:cNvSpPr/>
          <p:nvPr/>
        </p:nvSpPr>
        <p:spPr>
          <a:xfrm>
            <a:off x="548640" y="6446520"/>
            <a:ext cx="2743200" cy="274320"/>
          </a:xfrm>
          <a:prstGeom prst="rect">
            <a:avLst/>
          </a:prstGeom>
          <a:noFill/>
          <a:ln/>
        </p:spPr>
        <p:txBody>
          <a:bodyPr wrap="square" rtlCol="0" anchor="ctr"/>
          <a:lstStyle/>
          <a:p>
            <a:pPr indent="0" marL="0">
              <a:buNone/>
            </a:pPr>
            <a:r>
              <a:rPr lang="en-US" sz="900" b="1" spc="100" kern="0" dirty="0">
                <a:solidFill>
                  <a:srgbClr val="8FA0B3"/>
                </a:solidFill>
                <a:latin typeface="Arial" pitchFamily="34" charset="0"/>
                <a:ea typeface="Arial" pitchFamily="34" charset="-122"/>
                <a:cs typeface="Arial" pitchFamily="34" charset="-120"/>
              </a:rPr>
              <a:t>KSP · CIAP</a:t>
            </a:r>
            <a:endParaRPr lang="en-US" sz="900" dirty="0"/>
          </a:p>
        </p:txBody>
      </p:sp>
      <p:sp>
        <p:nvSpPr>
          <p:cNvPr id="10" name="Text 7"/>
          <p:cNvSpPr/>
          <p:nvPr/>
        </p:nvSpPr>
        <p:spPr>
          <a:xfrm>
            <a:off x="11521440" y="6446520"/>
            <a:ext cx="548640" cy="274320"/>
          </a:xfrm>
          <a:prstGeom prst="rect">
            <a:avLst/>
          </a:prstGeom>
          <a:noFill/>
          <a:ln/>
        </p:spPr>
        <p:txBody>
          <a:bodyPr wrap="square" rtlCol="0" anchor="ctr"/>
          <a:lstStyle/>
          <a:p>
            <a:pPr indent="0" marL="0">
              <a:buNone/>
            </a:pPr>
            <a:r>
              <a:rPr lang="en-US" sz="1000" dirty="0">
                <a:solidFill>
                  <a:srgbClr val="8FA0B3"/>
                </a:solidFill>
                <a:latin typeface="Consolas" pitchFamily="34" charset="0"/>
                <a:ea typeface="Consolas" pitchFamily="34" charset="-122"/>
                <a:cs typeface="Consolas"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218"/>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100" b="1" spc="200" kern="0" dirty="0">
                <a:solidFill>
                  <a:srgbClr val="F2A93C"/>
                </a:solidFill>
                <a:latin typeface="Arial" pitchFamily="34" charset="0"/>
                <a:ea typeface="Arial" pitchFamily="34" charset="-122"/>
                <a:cs typeface="Arial" pitchFamily="34" charset="-120"/>
              </a:rPr>
              <a:t>LINK ANALYSIS</a:t>
            </a:r>
            <a:endParaRPr lang="en-US" sz="1100" dirty="0"/>
          </a:p>
        </p:txBody>
      </p:sp>
      <p:sp>
        <p:nvSpPr>
          <p:cNvPr id="3" name="Text 1"/>
          <p:cNvSpPr/>
          <p:nvPr/>
        </p:nvSpPr>
        <p:spPr>
          <a:xfrm>
            <a:off x="548640" y="777240"/>
            <a:ext cx="9601200" cy="1097280"/>
          </a:xfrm>
          <a:prstGeom prst="rect">
            <a:avLst/>
          </a:prstGeom>
          <a:noFill/>
          <a:ln/>
        </p:spPr>
        <p:txBody>
          <a:bodyPr wrap="square" rtlCol="0" anchor="ctr"/>
          <a:lstStyle/>
          <a:p>
            <a:pPr indent="0" marL="0">
              <a:lnSpc>
                <a:spcPts val="2800"/>
              </a:lnSpc>
              <a:buNone/>
            </a:pPr>
            <a:r>
              <a:rPr lang="en-US" sz="2400" b="1" dirty="0">
                <a:solidFill>
                  <a:srgbClr val="FFFFFF"/>
                </a:solidFill>
                <a:latin typeface="Arial" pitchFamily="34" charset="0"/>
                <a:ea typeface="Arial" pitchFamily="34" charset="-122"/>
                <a:cs typeface="Arial" pitchFamily="34" charset="-120"/>
              </a:rPr>
              <a:t>The connections were always there —</a:t>
            </a:r>
            <a:endParaRPr lang="en-US" sz="2400" dirty="0"/>
          </a:p>
          <a:p>
            <a:pPr indent="0" marL="0">
              <a:lnSpc>
                <a:spcPts val="2800"/>
              </a:lnSpc>
              <a:buNone/>
            </a:pPr>
            <a:r>
              <a:rPr lang="en-US" sz="2400" b="1" dirty="0">
                <a:solidFill>
                  <a:srgbClr val="FFFFFF"/>
                </a:solidFill>
                <a:latin typeface="Arial" pitchFamily="34" charset="0"/>
                <a:ea typeface="Arial" pitchFamily="34" charset="-122"/>
                <a:cs typeface="Arial" pitchFamily="34" charset="-120"/>
              </a:rPr>
              <a:t>now they're visible</a:t>
            </a:r>
            <a:endParaRPr lang="en-US" sz="2400" dirty="0"/>
          </a:p>
        </p:txBody>
      </p:sp>
      <p:sp>
        <p:nvSpPr>
          <p:cNvPr id="4" name="Shape 2"/>
          <p:cNvSpPr/>
          <p:nvPr/>
        </p:nvSpPr>
        <p:spPr>
          <a:xfrm>
            <a:off x="1828800" y="3931920"/>
            <a:ext cx="914400" cy="1005840"/>
          </a:xfrm>
          <a:prstGeom prst="line">
            <a:avLst/>
          </a:prstGeom>
          <a:noFill/>
          <a:ln w="19050">
            <a:solidFill>
              <a:srgbClr val="3A4A5C"/>
            </a:solidFill>
            <a:prstDash val="solid"/>
          </a:ln>
        </p:spPr>
      </p:sp>
      <p:sp>
        <p:nvSpPr>
          <p:cNvPr id="5" name="Shape 3"/>
          <p:cNvSpPr/>
          <p:nvPr/>
        </p:nvSpPr>
        <p:spPr>
          <a:xfrm>
            <a:off x="3291840" y="3017520"/>
            <a:ext cx="-548640" cy="1920240"/>
          </a:xfrm>
          <a:prstGeom prst="line">
            <a:avLst/>
          </a:prstGeom>
          <a:noFill/>
          <a:ln w="19050">
            <a:solidFill>
              <a:srgbClr val="3A4A5C"/>
            </a:solidFill>
            <a:prstDash val="solid"/>
          </a:ln>
        </p:spPr>
      </p:sp>
      <p:sp>
        <p:nvSpPr>
          <p:cNvPr id="6" name="Shape 4"/>
          <p:cNvSpPr/>
          <p:nvPr/>
        </p:nvSpPr>
        <p:spPr>
          <a:xfrm>
            <a:off x="1828800" y="3931920"/>
            <a:ext cx="1463040" cy="-914400"/>
          </a:xfrm>
          <a:prstGeom prst="line">
            <a:avLst/>
          </a:prstGeom>
          <a:noFill/>
          <a:ln w="19050">
            <a:solidFill>
              <a:srgbClr val="3A4A5C"/>
            </a:solidFill>
            <a:prstDash val="solid"/>
          </a:ln>
        </p:spPr>
      </p:sp>
      <p:sp>
        <p:nvSpPr>
          <p:cNvPr id="7" name="Shape 5"/>
          <p:cNvSpPr/>
          <p:nvPr/>
        </p:nvSpPr>
        <p:spPr>
          <a:xfrm>
            <a:off x="3291840" y="3017520"/>
            <a:ext cx="1005840" cy="-640080"/>
          </a:xfrm>
          <a:prstGeom prst="line">
            <a:avLst/>
          </a:prstGeom>
          <a:noFill/>
          <a:ln w="19050">
            <a:solidFill>
              <a:srgbClr val="3A4A5C"/>
            </a:solidFill>
            <a:prstDash val="solid"/>
          </a:ln>
        </p:spPr>
      </p:sp>
      <p:sp>
        <p:nvSpPr>
          <p:cNvPr id="8" name="Shape 6"/>
          <p:cNvSpPr/>
          <p:nvPr/>
        </p:nvSpPr>
        <p:spPr>
          <a:xfrm>
            <a:off x="4663440" y="4206240"/>
            <a:ext cx="-365760" cy="-1828800"/>
          </a:xfrm>
          <a:prstGeom prst="line">
            <a:avLst/>
          </a:prstGeom>
          <a:noFill/>
          <a:ln w="19050">
            <a:solidFill>
              <a:srgbClr val="3A4A5C"/>
            </a:solidFill>
            <a:prstDash val="solid"/>
          </a:ln>
        </p:spPr>
      </p:sp>
      <p:sp>
        <p:nvSpPr>
          <p:cNvPr id="9" name="Shape 7"/>
          <p:cNvSpPr/>
          <p:nvPr/>
        </p:nvSpPr>
        <p:spPr>
          <a:xfrm>
            <a:off x="4663440" y="4206240"/>
            <a:ext cx="731520" cy="1097280"/>
          </a:xfrm>
          <a:prstGeom prst="line">
            <a:avLst/>
          </a:prstGeom>
          <a:noFill/>
          <a:ln w="19050">
            <a:solidFill>
              <a:srgbClr val="3A4A5C"/>
            </a:solidFill>
            <a:prstDash val="solid"/>
          </a:ln>
        </p:spPr>
      </p:sp>
      <p:sp>
        <p:nvSpPr>
          <p:cNvPr id="10" name="Shape 8"/>
          <p:cNvSpPr/>
          <p:nvPr/>
        </p:nvSpPr>
        <p:spPr>
          <a:xfrm>
            <a:off x="1828800" y="3931920"/>
            <a:ext cx="3566160" cy="1371600"/>
          </a:xfrm>
          <a:prstGeom prst="line">
            <a:avLst/>
          </a:prstGeom>
          <a:noFill/>
          <a:ln w="19050">
            <a:solidFill>
              <a:srgbClr val="3A4A5C"/>
            </a:solidFill>
            <a:prstDash val="solid"/>
          </a:ln>
        </p:spPr>
      </p:sp>
      <p:sp>
        <p:nvSpPr>
          <p:cNvPr id="11" name="Shape 9"/>
          <p:cNvSpPr/>
          <p:nvPr/>
        </p:nvSpPr>
        <p:spPr>
          <a:xfrm>
            <a:off x="1682496" y="3785616"/>
            <a:ext cx="292608" cy="292608"/>
          </a:xfrm>
          <a:prstGeom prst="ellipse">
            <a:avLst/>
          </a:prstGeom>
          <a:solidFill>
            <a:srgbClr val="D64545"/>
          </a:solidFill>
          <a:ln w="12700">
            <a:solidFill>
              <a:srgbClr val="0B0F14"/>
            </a:solidFill>
            <a:prstDash val="solid"/>
          </a:ln>
        </p:spPr>
      </p:sp>
      <p:sp>
        <p:nvSpPr>
          <p:cNvPr id="12" name="Shape 10"/>
          <p:cNvSpPr/>
          <p:nvPr/>
        </p:nvSpPr>
        <p:spPr>
          <a:xfrm>
            <a:off x="3145536" y="2871216"/>
            <a:ext cx="292608" cy="292608"/>
          </a:xfrm>
          <a:prstGeom prst="ellipse">
            <a:avLst/>
          </a:prstGeom>
          <a:solidFill>
            <a:srgbClr val="D64545"/>
          </a:solidFill>
          <a:ln w="12700">
            <a:solidFill>
              <a:srgbClr val="0B0F14"/>
            </a:solidFill>
            <a:prstDash val="solid"/>
          </a:ln>
        </p:spPr>
      </p:sp>
      <p:sp>
        <p:nvSpPr>
          <p:cNvPr id="13" name="Shape 11"/>
          <p:cNvSpPr/>
          <p:nvPr/>
        </p:nvSpPr>
        <p:spPr>
          <a:xfrm>
            <a:off x="2596896" y="4791456"/>
            <a:ext cx="292608" cy="292608"/>
          </a:xfrm>
          <a:prstGeom prst="ellipse">
            <a:avLst/>
          </a:prstGeom>
          <a:solidFill>
            <a:srgbClr val="2A8C8C"/>
          </a:solidFill>
          <a:ln w="12700">
            <a:solidFill>
              <a:srgbClr val="0B0F14"/>
            </a:solidFill>
            <a:prstDash val="solid"/>
          </a:ln>
        </p:spPr>
      </p:sp>
      <p:sp>
        <p:nvSpPr>
          <p:cNvPr id="14" name="Shape 12"/>
          <p:cNvSpPr/>
          <p:nvPr/>
        </p:nvSpPr>
        <p:spPr>
          <a:xfrm>
            <a:off x="4517136" y="4059936"/>
            <a:ext cx="292608" cy="292608"/>
          </a:xfrm>
          <a:prstGeom prst="ellipse">
            <a:avLst/>
          </a:prstGeom>
          <a:solidFill>
            <a:srgbClr val="D64545"/>
          </a:solidFill>
          <a:ln w="12700">
            <a:solidFill>
              <a:srgbClr val="0B0F14"/>
            </a:solidFill>
            <a:prstDash val="solid"/>
          </a:ln>
        </p:spPr>
      </p:sp>
      <p:sp>
        <p:nvSpPr>
          <p:cNvPr id="15" name="Shape 13"/>
          <p:cNvSpPr/>
          <p:nvPr/>
        </p:nvSpPr>
        <p:spPr>
          <a:xfrm>
            <a:off x="4151376" y="2231136"/>
            <a:ext cx="292608" cy="292608"/>
          </a:xfrm>
          <a:prstGeom prst="ellipse">
            <a:avLst/>
          </a:prstGeom>
          <a:solidFill>
            <a:srgbClr val="2A8C8C"/>
          </a:solidFill>
          <a:ln w="12700">
            <a:solidFill>
              <a:srgbClr val="0B0F14"/>
            </a:solidFill>
            <a:prstDash val="solid"/>
          </a:ln>
        </p:spPr>
      </p:sp>
      <p:sp>
        <p:nvSpPr>
          <p:cNvPr id="16" name="Shape 14"/>
          <p:cNvSpPr/>
          <p:nvPr/>
        </p:nvSpPr>
        <p:spPr>
          <a:xfrm>
            <a:off x="5248656" y="5157216"/>
            <a:ext cx="292608" cy="292608"/>
          </a:xfrm>
          <a:prstGeom prst="ellipse">
            <a:avLst/>
          </a:prstGeom>
          <a:solidFill>
            <a:srgbClr val="2A8C8C"/>
          </a:solidFill>
          <a:ln w="12700">
            <a:solidFill>
              <a:srgbClr val="0B0F14"/>
            </a:solidFill>
            <a:prstDash val="solid"/>
          </a:ln>
        </p:spPr>
      </p:sp>
      <p:sp>
        <p:nvSpPr>
          <p:cNvPr id="17" name="Text 15"/>
          <p:cNvSpPr/>
          <p:nvPr/>
        </p:nvSpPr>
        <p:spPr>
          <a:xfrm>
            <a:off x="548640" y="5989320"/>
            <a:ext cx="6400800" cy="365760"/>
          </a:xfrm>
          <a:prstGeom prst="rect">
            <a:avLst/>
          </a:prstGeom>
          <a:noFill/>
          <a:ln/>
        </p:spPr>
        <p:txBody>
          <a:bodyPr wrap="square" rtlCol="0" anchor="ctr"/>
          <a:lstStyle/>
          <a:p>
            <a:pPr indent="0" marL="0">
              <a:buNone/>
            </a:pPr>
            <a:r>
              <a:rPr lang="en-US" sz="1000" dirty="0">
                <a:solidFill>
                  <a:srgbClr val="8FA0B3"/>
                </a:solidFill>
                <a:latin typeface="Consolas" pitchFamily="34" charset="0"/>
                <a:ea typeface="Consolas" pitchFamily="34" charset="-122"/>
                <a:cs typeface="Consolas" pitchFamily="34" charset="-120"/>
              </a:rPr>
              <a:t>● Suspect nodes    ● Location nodes    — shared-location edge</a:t>
            </a:r>
            <a:endParaRPr lang="en-US" sz="1000" dirty="0"/>
          </a:p>
        </p:txBody>
      </p:sp>
      <p:sp>
        <p:nvSpPr>
          <p:cNvPr id="18" name="Shape 16"/>
          <p:cNvSpPr/>
          <p:nvPr/>
        </p:nvSpPr>
        <p:spPr>
          <a:xfrm>
            <a:off x="7040880" y="2286000"/>
            <a:ext cx="4572000" cy="3749040"/>
          </a:xfrm>
          <a:prstGeom prst="rect">
            <a:avLst/>
          </a:prstGeom>
          <a:solidFill>
            <a:srgbClr val="141B24"/>
          </a:solidFill>
          <a:ln w="12700">
            <a:solidFill>
              <a:srgbClr val="1E2733"/>
            </a:solidFill>
            <a:prstDash val="solid"/>
          </a:ln>
        </p:spPr>
      </p:sp>
      <p:sp>
        <p:nvSpPr>
          <p:cNvPr id="19" name="Text 17"/>
          <p:cNvSpPr/>
          <p:nvPr/>
        </p:nvSpPr>
        <p:spPr>
          <a:xfrm>
            <a:off x="7315200" y="2514600"/>
            <a:ext cx="4023360" cy="320040"/>
          </a:xfrm>
          <a:prstGeom prst="rect">
            <a:avLst/>
          </a:prstGeom>
          <a:noFill/>
          <a:ln/>
        </p:spPr>
        <p:txBody>
          <a:bodyPr wrap="square" rtlCol="0" anchor="ctr"/>
          <a:lstStyle/>
          <a:p>
            <a:pPr indent="0" marL="0">
              <a:buNone/>
            </a:pPr>
            <a:r>
              <a:rPr lang="en-US" sz="1000" spc="150" kern="0" dirty="0">
                <a:solidFill>
                  <a:srgbClr val="F2A93C"/>
                </a:solidFill>
                <a:latin typeface="Consolas" pitchFamily="34" charset="0"/>
                <a:ea typeface="Consolas" pitchFamily="34" charset="-122"/>
                <a:cs typeface="Consolas" pitchFamily="34" charset="-120"/>
              </a:rPr>
              <a:t>CORE QUERY</a:t>
            </a:r>
            <a:endParaRPr lang="en-US" sz="1000" dirty="0"/>
          </a:p>
        </p:txBody>
      </p:sp>
      <p:sp>
        <p:nvSpPr>
          <p:cNvPr id="20" name="Text 18"/>
          <p:cNvSpPr/>
          <p:nvPr/>
        </p:nvSpPr>
        <p:spPr>
          <a:xfrm>
            <a:off x="7315200" y="2880360"/>
            <a:ext cx="4023360" cy="1005840"/>
          </a:xfrm>
          <a:prstGeom prst="rect">
            <a:avLst/>
          </a:prstGeom>
          <a:noFill/>
          <a:ln/>
        </p:spPr>
        <p:txBody>
          <a:bodyPr wrap="square" rtlCol="0" anchor="ctr"/>
          <a:lstStyle/>
          <a:p>
            <a:pPr indent="0" marL="0">
              <a:lnSpc>
                <a:spcPts val="1700"/>
              </a:lnSpc>
              <a:buNone/>
            </a:pPr>
            <a:r>
              <a:rPr lang="en-US" sz="1250" i="1" dirty="0">
                <a:solidFill>
                  <a:srgbClr val="FFFFFF"/>
                </a:solidFill>
                <a:latin typeface="Arial" pitchFamily="34" charset="0"/>
                <a:ea typeface="Arial" pitchFamily="34" charset="-122"/>
                <a:cs typeface="Arial" pitchFamily="34" charset="-120"/>
              </a:rPr>
              <a:t>“Find everyone who has been at the same location as Suspect X in the last 30 days.”</a:t>
            </a:r>
            <a:endParaRPr lang="en-US" sz="1250" dirty="0"/>
          </a:p>
        </p:txBody>
      </p:sp>
      <p:sp>
        <p:nvSpPr>
          <p:cNvPr id="21" name="Text 19"/>
          <p:cNvSpPr/>
          <p:nvPr/>
        </p:nvSpPr>
        <p:spPr>
          <a:xfrm>
            <a:off x="7315200" y="4023360"/>
            <a:ext cx="4023360" cy="1828800"/>
          </a:xfrm>
          <a:prstGeom prst="rect">
            <a:avLst/>
          </a:prstGeom>
          <a:noFill/>
          <a:ln/>
        </p:spPr>
        <p:txBody>
          <a:bodyPr wrap="square" rtlCol="0" anchor="ctr"/>
          <a:lstStyle/>
          <a:p>
            <a:pPr indent="0" marL="0">
              <a:lnSpc>
                <a:spcPts val="1600"/>
              </a:lnSpc>
              <a:buNone/>
            </a:pPr>
            <a:r>
              <a:rPr lang="en-US" sz="1100" dirty="0">
                <a:solidFill>
                  <a:srgbClr val="E7ECF2"/>
                </a:solidFill>
                <a:latin typeface="Arial" pitchFamily="34" charset="0"/>
                <a:ea typeface="Arial" pitchFamily="34" charset="-122"/>
                <a:cs typeface="Arial" pitchFamily="34" charset="-120"/>
              </a:rPr>
              <a:t>In SQL: expensive multi-join, gets worse with depth.</a:t>
            </a:r>
            <a:endParaRPr lang="en-US" sz="1100" dirty="0"/>
          </a:p>
          <a:p>
            <a:pPr indent="0" marL="0">
              <a:lnSpc>
                <a:spcPts val="1600"/>
              </a:lnSpc>
              <a:buNone/>
            </a:pPr>
            <a:endParaRPr lang="en-US" sz="1100" dirty="0"/>
          </a:p>
          <a:p>
            <a:pPr indent="0" marL="0">
              <a:lnSpc>
                <a:spcPts val="1600"/>
              </a:lnSpc>
              <a:buNone/>
            </a:pPr>
            <a:r>
              <a:rPr lang="en-US" sz="1100" dirty="0">
                <a:solidFill>
                  <a:srgbClr val="E7ECF2"/>
                </a:solidFill>
                <a:latin typeface="Arial" pitchFamily="34" charset="0"/>
                <a:ea typeface="Arial" pitchFamily="34" charset="-122"/>
                <a:cs typeface="Arial" pitchFamily="34" charset="-120"/>
              </a:rPr>
              <a:t>In Neo4j/Cypher: one readable pattern match, traverses relationships natively.</a:t>
            </a:r>
            <a:endParaRPr lang="en-US" sz="1100" dirty="0"/>
          </a:p>
        </p:txBody>
      </p:sp>
      <p:sp>
        <p:nvSpPr>
          <p:cNvPr id="22" name="Text 20"/>
          <p:cNvSpPr/>
          <p:nvPr/>
        </p:nvSpPr>
        <p:spPr>
          <a:xfrm>
            <a:off x="548640" y="6446520"/>
            <a:ext cx="2743200" cy="274320"/>
          </a:xfrm>
          <a:prstGeom prst="rect">
            <a:avLst/>
          </a:prstGeom>
          <a:noFill/>
          <a:ln/>
        </p:spPr>
        <p:txBody>
          <a:bodyPr wrap="square" rtlCol="0" anchor="ctr"/>
          <a:lstStyle/>
          <a:p>
            <a:pPr indent="0" marL="0">
              <a:buNone/>
            </a:pPr>
            <a:r>
              <a:rPr lang="en-US" sz="900" b="1" spc="100" kern="0" dirty="0">
                <a:solidFill>
                  <a:srgbClr val="8FA0B3"/>
                </a:solidFill>
                <a:latin typeface="Arial" pitchFamily="34" charset="0"/>
                <a:ea typeface="Arial" pitchFamily="34" charset="-122"/>
                <a:cs typeface="Arial" pitchFamily="34" charset="-120"/>
              </a:rPr>
              <a:t>KSP · CIAP</a:t>
            </a:r>
            <a:endParaRPr lang="en-US" sz="900" dirty="0"/>
          </a:p>
        </p:txBody>
      </p:sp>
      <p:sp>
        <p:nvSpPr>
          <p:cNvPr id="23" name="Text 21"/>
          <p:cNvSpPr/>
          <p:nvPr/>
        </p:nvSpPr>
        <p:spPr>
          <a:xfrm>
            <a:off x="11521440" y="6446520"/>
            <a:ext cx="548640" cy="274320"/>
          </a:xfrm>
          <a:prstGeom prst="rect">
            <a:avLst/>
          </a:prstGeom>
          <a:noFill/>
          <a:ln/>
        </p:spPr>
        <p:txBody>
          <a:bodyPr wrap="square" rtlCol="0" anchor="ctr"/>
          <a:lstStyle/>
          <a:p>
            <a:pPr indent="0" marL="0">
              <a:buNone/>
            </a:pPr>
            <a:r>
              <a:rPr lang="en-US" sz="1000" dirty="0">
                <a:solidFill>
                  <a:srgbClr val="8FA0B3"/>
                </a:solidFill>
                <a:latin typeface="Consolas" pitchFamily="34" charset="0"/>
                <a:ea typeface="Consolas" pitchFamily="34" charset="-122"/>
                <a:cs typeface="Consolas"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100" b="1" spc="200" kern="0" dirty="0">
                <a:solidFill>
                  <a:srgbClr val="F2A93C"/>
                </a:solidFill>
                <a:latin typeface="Arial" pitchFamily="34" charset="0"/>
                <a:ea typeface="Arial" pitchFamily="34" charset="-122"/>
                <a:cs typeface="Arial" pitchFamily="34" charset="-120"/>
              </a:rPr>
              <a:t>SECURITY &amp; ACCESS CONTROL</a:t>
            </a:r>
            <a:endParaRPr lang="en-US" sz="1100" dirty="0"/>
          </a:p>
        </p:txBody>
      </p:sp>
      <p:sp>
        <p:nvSpPr>
          <p:cNvPr id="3" name="Text 1"/>
          <p:cNvSpPr/>
          <p:nvPr/>
        </p:nvSpPr>
        <p:spPr>
          <a:xfrm>
            <a:off x="548640" y="777240"/>
            <a:ext cx="9601200" cy="1097280"/>
          </a:xfrm>
          <a:prstGeom prst="rect">
            <a:avLst/>
          </a:prstGeom>
          <a:noFill/>
          <a:ln/>
        </p:spPr>
        <p:txBody>
          <a:bodyPr wrap="square" rtlCol="0" anchor="ctr"/>
          <a:lstStyle/>
          <a:p>
            <a:pPr indent="0" marL="0">
              <a:lnSpc>
                <a:spcPts val="2800"/>
              </a:lnSpc>
              <a:buNone/>
            </a:pPr>
            <a:r>
              <a:rPr lang="en-US" sz="2400" b="1" dirty="0">
                <a:solidFill>
                  <a:srgbClr val="FFFFFF"/>
                </a:solidFill>
                <a:latin typeface="Arial" pitchFamily="34" charset="0"/>
                <a:ea typeface="Arial" pitchFamily="34" charset="-122"/>
                <a:cs typeface="Arial" pitchFamily="34" charset="-120"/>
              </a:rPr>
              <a:t>Permissions enforced server-side,</a:t>
            </a:r>
            <a:endParaRPr lang="en-US" sz="2400" dirty="0"/>
          </a:p>
          <a:p>
            <a:pPr indent="0" marL="0">
              <a:lnSpc>
                <a:spcPts val="2800"/>
              </a:lnSpc>
              <a:buNone/>
            </a:pPr>
            <a:r>
              <a:rPr lang="en-US" sz="2400" b="1" dirty="0">
                <a:solidFill>
                  <a:srgbClr val="FFFFFF"/>
                </a:solidFill>
                <a:latin typeface="Arial" pitchFamily="34" charset="0"/>
                <a:ea typeface="Arial" pitchFamily="34" charset="-122"/>
                <a:cs typeface="Arial" pitchFamily="34" charset="-120"/>
              </a:rPr>
              <a:t>not just hidden in the UI</a:t>
            </a:r>
            <a:endParaRPr lang="en-US" sz="2400" dirty="0"/>
          </a:p>
        </p:txBody>
      </p:sp>
      <p:sp>
        <p:nvSpPr>
          <p:cNvPr id="4" name="Shape 2"/>
          <p:cNvSpPr/>
          <p:nvPr/>
        </p:nvSpPr>
        <p:spPr>
          <a:xfrm>
            <a:off x="548640" y="2468880"/>
            <a:ext cx="11064240" cy="914400"/>
          </a:xfrm>
          <a:prstGeom prst="rect">
            <a:avLst/>
          </a:prstGeom>
          <a:solidFill>
            <a:srgbClr val="141B24"/>
          </a:solidFill>
          <a:ln w="12700">
            <a:solidFill>
              <a:srgbClr val="1E2733"/>
            </a:solidFill>
            <a:prstDash val="solid"/>
          </a:ln>
        </p:spPr>
      </p:sp>
      <p:sp>
        <p:nvSpPr>
          <p:cNvPr id="5" name="Shape 3"/>
          <p:cNvSpPr/>
          <p:nvPr/>
        </p:nvSpPr>
        <p:spPr>
          <a:xfrm>
            <a:off x="868680" y="2761488"/>
            <a:ext cx="329184" cy="329184"/>
          </a:xfrm>
          <a:prstGeom prst="ellipse">
            <a:avLst/>
          </a:prstGeom>
          <a:solidFill>
            <a:srgbClr val="2A8C8C"/>
          </a:solidFill>
          <a:ln/>
        </p:spPr>
      </p:sp>
      <p:sp>
        <p:nvSpPr>
          <p:cNvPr id="6" name="Text 4"/>
          <p:cNvSpPr/>
          <p:nvPr/>
        </p:nvSpPr>
        <p:spPr>
          <a:xfrm>
            <a:off x="1417320" y="2578608"/>
            <a:ext cx="3291840" cy="6858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Field Officer</a:t>
            </a:r>
            <a:endParaRPr lang="en-US" sz="1400" dirty="0"/>
          </a:p>
        </p:txBody>
      </p:sp>
      <p:sp>
        <p:nvSpPr>
          <p:cNvPr id="7" name="Text 5"/>
          <p:cNvSpPr/>
          <p:nvPr/>
        </p:nvSpPr>
        <p:spPr>
          <a:xfrm>
            <a:off x="4846320" y="2578608"/>
            <a:ext cx="6309360" cy="685800"/>
          </a:xfrm>
          <a:prstGeom prst="rect">
            <a:avLst/>
          </a:prstGeom>
          <a:noFill/>
          <a:ln/>
        </p:spPr>
        <p:txBody>
          <a:bodyPr wrap="square" rtlCol="0" anchor="ctr"/>
          <a:lstStyle/>
          <a:p>
            <a:pPr indent="0" marL="0">
              <a:buNone/>
            </a:pPr>
            <a:r>
              <a:rPr lang="en-US" sz="1100" dirty="0">
                <a:solidFill>
                  <a:srgbClr val="E7ECF2"/>
                </a:solidFill>
                <a:latin typeface="Consolas" pitchFamily="34" charset="0"/>
                <a:ea typeface="Consolas" pitchFamily="34" charset="-122"/>
                <a:cs typeface="Consolas" pitchFamily="34" charset="-120"/>
              </a:rPr>
              <a:t>view</a:t>
            </a:r>
            <a:endParaRPr lang="en-US" sz="1100" dirty="0"/>
          </a:p>
        </p:txBody>
      </p:sp>
      <p:sp>
        <p:nvSpPr>
          <p:cNvPr id="8" name="Shape 6"/>
          <p:cNvSpPr/>
          <p:nvPr/>
        </p:nvSpPr>
        <p:spPr>
          <a:xfrm>
            <a:off x="548640" y="3566160"/>
            <a:ext cx="11064240" cy="914400"/>
          </a:xfrm>
          <a:prstGeom prst="rect">
            <a:avLst/>
          </a:prstGeom>
          <a:solidFill>
            <a:srgbClr val="141B24"/>
          </a:solidFill>
          <a:ln w="12700">
            <a:solidFill>
              <a:srgbClr val="1E2733"/>
            </a:solidFill>
            <a:prstDash val="solid"/>
          </a:ln>
        </p:spPr>
      </p:sp>
      <p:sp>
        <p:nvSpPr>
          <p:cNvPr id="9" name="Shape 7"/>
          <p:cNvSpPr/>
          <p:nvPr/>
        </p:nvSpPr>
        <p:spPr>
          <a:xfrm>
            <a:off x="868680" y="3858768"/>
            <a:ext cx="329184" cy="329184"/>
          </a:xfrm>
          <a:prstGeom prst="ellipse">
            <a:avLst/>
          </a:prstGeom>
          <a:solidFill>
            <a:srgbClr val="F2A93C"/>
          </a:solidFill>
          <a:ln/>
        </p:spPr>
      </p:sp>
      <p:sp>
        <p:nvSpPr>
          <p:cNvPr id="10" name="Text 8"/>
          <p:cNvSpPr/>
          <p:nvPr/>
        </p:nvSpPr>
        <p:spPr>
          <a:xfrm>
            <a:off x="1417320" y="3675888"/>
            <a:ext cx="3291840" cy="6858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Intelligence Analyst</a:t>
            </a:r>
            <a:endParaRPr lang="en-US" sz="1400" dirty="0"/>
          </a:p>
        </p:txBody>
      </p:sp>
      <p:sp>
        <p:nvSpPr>
          <p:cNvPr id="11" name="Text 9"/>
          <p:cNvSpPr/>
          <p:nvPr/>
        </p:nvSpPr>
        <p:spPr>
          <a:xfrm>
            <a:off x="4846320" y="3675888"/>
            <a:ext cx="6309360" cy="685800"/>
          </a:xfrm>
          <a:prstGeom prst="rect">
            <a:avLst/>
          </a:prstGeom>
          <a:noFill/>
          <a:ln/>
        </p:spPr>
        <p:txBody>
          <a:bodyPr wrap="square" rtlCol="0" anchor="ctr"/>
          <a:lstStyle/>
          <a:p>
            <a:pPr indent="0" marL="0">
              <a:buNone/>
            </a:pPr>
            <a:r>
              <a:rPr lang="en-US" sz="1100" dirty="0">
                <a:solidFill>
                  <a:srgbClr val="E7ECF2"/>
                </a:solidFill>
                <a:latin typeface="Consolas" pitchFamily="34" charset="0"/>
                <a:ea typeface="Consolas" pitchFamily="34" charset="-122"/>
                <a:cs typeface="Consolas" pitchFamily="34" charset="-120"/>
              </a:rPr>
              <a:t>view · annotate · export</a:t>
            </a:r>
            <a:endParaRPr lang="en-US" sz="1100" dirty="0"/>
          </a:p>
        </p:txBody>
      </p:sp>
      <p:sp>
        <p:nvSpPr>
          <p:cNvPr id="12" name="Shape 10"/>
          <p:cNvSpPr/>
          <p:nvPr/>
        </p:nvSpPr>
        <p:spPr>
          <a:xfrm>
            <a:off x="548640" y="4663440"/>
            <a:ext cx="11064240" cy="914400"/>
          </a:xfrm>
          <a:prstGeom prst="rect">
            <a:avLst/>
          </a:prstGeom>
          <a:solidFill>
            <a:srgbClr val="141B24"/>
          </a:solidFill>
          <a:ln w="12700">
            <a:solidFill>
              <a:srgbClr val="1E2733"/>
            </a:solidFill>
            <a:prstDash val="solid"/>
          </a:ln>
        </p:spPr>
      </p:sp>
      <p:sp>
        <p:nvSpPr>
          <p:cNvPr id="13" name="Shape 11"/>
          <p:cNvSpPr/>
          <p:nvPr/>
        </p:nvSpPr>
        <p:spPr>
          <a:xfrm>
            <a:off x="868680" y="4956048"/>
            <a:ext cx="329184" cy="329184"/>
          </a:xfrm>
          <a:prstGeom prst="ellipse">
            <a:avLst/>
          </a:prstGeom>
          <a:solidFill>
            <a:srgbClr val="D64545"/>
          </a:solidFill>
          <a:ln/>
        </p:spPr>
      </p:sp>
      <p:sp>
        <p:nvSpPr>
          <p:cNvPr id="14" name="Text 12"/>
          <p:cNvSpPr/>
          <p:nvPr/>
        </p:nvSpPr>
        <p:spPr>
          <a:xfrm>
            <a:off x="1417320" y="4773168"/>
            <a:ext cx="3291840" cy="6858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Administrator</a:t>
            </a:r>
            <a:endParaRPr lang="en-US" sz="1400" dirty="0"/>
          </a:p>
        </p:txBody>
      </p:sp>
      <p:sp>
        <p:nvSpPr>
          <p:cNvPr id="15" name="Text 13"/>
          <p:cNvSpPr/>
          <p:nvPr/>
        </p:nvSpPr>
        <p:spPr>
          <a:xfrm>
            <a:off x="4846320" y="4773168"/>
            <a:ext cx="6309360" cy="685800"/>
          </a:xfrm>
          <a:prstGeom prst="rect">
            <a:avLst/>
          </a:prstGeom>
          <a:noFill/>
          <a:ln/>
        </p:spPr>
        <p:txBody>
          <a:bodyPr wrap="square" rtlCol="0" anchor="ctr"/>
          <a:lstStyle/>
          <a:p>
            <a:pPr indent="0" marL="0">
              <a:buNone/>
            </a:pPr>
            <a:r>
              <a:rPr lang="en-US" sz="1100" dirty="0">
                <a:solidFill>
                  <a:srgbClr val="E7ECF2"/>
                </a:solidFill>
                <a:latin typeface="Consolas" pitchFamily="34" charset="0"/>
                <a:ea typeface="Consolas" pitchFamily="34" charset="-122"/>
                <a:cs typeface="Consolas" pitchFamily="34" charset="-120"/>
              </a:rPr>
              <a:t>view · annotate · export · assign · dismiss</a:t>
            </a:r>
            <a:endParaRPr lang="en-US" sz="1100" dirty="0"/>
          </a:p>
        </p:txBody>
      </p:sp>
      <p:sp>
        <p:nvSpPr>
          <p:cNvPr id="16" name="Text 14"/>
          <p:cNvSpPr/>
          <p:nvPr/>
        </p:nvSpPr>
        <p:spPr>
          <a:xfrm>
            <a:off x="548640" y="5943600"/>
            <a:ext cx="10972800" cy="365760"/>
          </a:xfrm>
          <a:prstGeom prst="rect">
            <a:avLst/>
          </a:prstGeom>
          <a:noFill/>
          <a:ln/>
        </p:spPr>
        <p:txBody>
          <a:bodyPr wrap="square" rtlCol="0" anchor="ctr"/>
          <a:lstStyle/>
          <a:p>
            <a:pPr indent="0" marL="0">
              <a:buNone/>
            </a:pPr>
            <a:r>
              <a:rPr lang="en-US" sz="950" dirty="0">
                <a:solidFill>
                  <a:srgbClr val="8FA0B3"/>
                </a:solidFill>
                <a:latin typeface="Consolas" pitchFamily="34" charset="0"/>
                <a:ea typeface="Consolas" pitchFamily="34" charset="-122"/>
                <a:cs typeface="Consolas" pitchFamily="34" charset="-120"/>
              </a:rPr>
              <a:t>Passwords: PBKDF2-HMAC-SHA256, 100k iterations, unique salt  ·  Auth: stateless JWT, 2h expiry  ·  Rate-limited login endpoint</a:t>
            </a:r>
            <a:endParaRPr lang="en-US" sz="950" dirty="0"/>
          </a:p>
        </p:txBody>
      </p:sp>
      <p:sp>
        <p:nvSpPr>
          <p:cNvPr id="17" name="Text 15"/>
          <p:cNvSpPr/>
          <p:nvPr/>
        </p:nvSpPr>
        <p:spPr>
          <a:xfrm>
            <a:off x="548640" y="6446520"/>
            <a:ext cx="2743200" cy="274320"/>
          </a:xfrm>
          <a:prstGeom prst="rect">
            <a:avLst/>
          </a:prstGeom>
          <a:noFill/>
          <a:ln/>
        </p:spPr>
        <p:txBody>
          <a:bodyPr wrap="square" rtlCol="0" anchor="ctr"/>
          <a:lstStyle/>
          <a:p>
            <a:pPr indent="0" marL="0">
              <a:buNone/>
            </a:pPr>
            <a:r>
              <a:rPr lang="en-US" sz="900" b="1" spc="100" kern="0" dirty="0">
                <a:solidFill>
                  <a:srgbClr val="8FA0B3"/>
                </a:solidFill>
                <a:latin typeface="Arial" pitchFamily="34" charset="0"/>
                <a:ea typeface="Arial" pitchFamily="34" charset="-122"/>
                <a:cs typeface="Arial" pitchFamily="34" charset="-120"/>
              </a:rPr>
              <a:t>KSP · CIAP</a:t>
            </a:r>
            <a:endParaRPr lang="en-US" sz="900" dirty="0"/>
          </a:p>
        </p:txBody>
      </p:sp>
      <p:sp>
        <p:nvSpPr>
          <p:cNvPr id="18" name="Text 16"/>
          <p:cNvSpPr/>
          <p:nvPr/>
        </p:nvSpPr>
        <p:spPr>
          <a:xfrm>
            <a:off x="11521440" y="6446520"/>
            <a:ext cx="548640" cy="274320"/>
          </a:xfrm>
          <a:prstGeom prst="rect">
            <a:avLst/>
          </a:prstGeom>
          <a:noFill/>
          <a:ln/>
        </p:spPr>
        <p:txBody>
          <a:bodyPr wrap="square" rtlCol="0" anchor="ctr"/>
          <a:lstStyle/>
          <a:p>
            <a:pPr indent="0" marL="0">
              <a:buNone/>
            </a:pPr>
            <a:r>
              <a:rPr lang="en-US" sz="1000" dirty="0">
                <a:solidFill>
                  <a:srgbClr val="8FA0B3"/>
                </a:solidFill>
                <a:latin typeface="Consolas" pitchFamily="34" charset="0"/>
                <a:ea typeface="Consolas" pitchFamily="34" charset="-122"/>
                <a:cs typeface="Consolas"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218"/>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100" b="1" spc="200" kern="0" dirty="0">
                <a:solidFill>
                  <a:srgbClr val="F2A93C"/>
                </a:solidFill>
                <a:latin typeface="Arial" pitchFamily="34" charset="0"/>
                <a:ea typeface="Arial" pitchFamily="34" charset="-122"/>
                <a:cs typeface="Arial" pitchFamily="34" charset="-120"/>
              </a:rPr>
              <a:t>STACK &amp; DEPLOYMENT</a:t>
            </a:r>
            <a:endParaRPr lang="en-US" sz="1100" dirty="0"/>
          </a:p>
        </p:txBody>
      </p:sp>
      <p:sp>
        <p:nvSpPr>
          <p:cNvPr id="3" name="Text 1"/>
          <p:cNvSpPr/>
          <p:nvPr/>
        </p:nvSpPr>
        <p:spPr>
          <a:xfrm>
            <a:off x="548640" y="777240"/>
            <a:ext cx="9144000" cy="5486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Production-shaped, laptop-runnable</a:t>
            </a:r>
            <a:endParaRPr lang="en-US" sz="2600" dirty="0"/>
          </a:p>
        </p:txBody>
      </p:sp>
      <p:sp>
        <p:nvSpPr>
          <p:cNvPr id="4" name="Shape 2"/>
          <p:cNvSpPr/>
          <p:nvPr/>
        </p:nvSpPr>
        <p:spPr>
          <a:xfrm>
            <a:off x="548640" y="1691640"/>
            <a:ext cx="3566160" cy="3291840"/>
          </a:xfrm>
          <a:prstGeom prst="rect">
            <a:avLst/>
          </a:prstGeom>
          <a:solidFill>
            <a:srgbClr val="141B24"/>
          </a:solidFill>
          <a:ln w="12700">
            <a:solidFill>
              <a:srgbClr val="1E2733"/>
            </a:solidFill>
            <a:prstDash val="solid"/>
          </a:ln>
        </p:spPr>
      </p:sp>
      <p:sp>
        <p:nvSpPr>
          <p:cNvPr id="5" name="Text 3"/>
          <p:cNvSpPr/>
          <p:nvPr/>
        </p:nvSpPr>
        <p:spPr>
          <a:xfrm>
            <a:off x="777240" y="1920240"/>
            <a:ext cx="3108960" cy="320040"/>
          </a:xfrm>
          <a:prstGeom prst="rect">
            <a:avLst/>
          </a:prstGeom>
          <a:noFill/>
          <a:ln/>
        </p:spPr>
        <p:txBody>
          <a:bodyPr wrap="square" rtlCol="0" anchor="ctr"/>
          <a:lstStyle/>
          <a:p>
            <a:pPr indent="0" marL="0">
              <a:buNone/>
            </a:pPr>
            <a:r>
              <a:rPr lang="en-US" sz="1050" spc="150" kern="0" dirty="0">
                <a:solidFill>
                  <a:srgbClr val="F2A93C"/>
                </a:solidFill>
                <a:latin typeface="Consolas" pitchFamily="34" charset="0"/>
                <a:ea typeface="Consolas" pitchFamily="34" charset="-122"/>
                <a:cs typeface="Consolas" pitchFamily="34" charset="-120"/>
              </a:rPr>
              <a:t>FRONTEND</a:t>
            </a:r>
            <a:endParaRPr lang="en-US" sz="1050" dirty="0"/>
          </a:p>
        </p:txBody>
      </p:sp>
      <p:sp>
        <p:nvSpPr>
          <p:cNvPr id="6" name="Text 4"/>
          <p:cNvSpPr/>
          <p:nvPr/>
        </p:nvSpPr>
        <p:spPr>
          <a:xfrm>
            <a:off x="777240" y="2377440"/>
            <a:ext cx="3108960" cy="2468880"/>
          </a:xfrm>
          <a:prstGeom prst="rect">
            <a:avLst/>
          </a:prstGeom>
          <a:noFill/>
          <a:ln/>
        </p:spPr>
        <p:txBody>
          <a:bodyPr wrap="square" rtlCol="0" anchor="ctr"/>
          <a:lstStyle/>
          <a:p>
            <a:pPr indent="0" marL="0">
              <a:lnSpc>
                <a:spcPts val="2600"/>
              </a:lnSpc>
              <a:buNone/>
            </a:pPr>
            <a:r>
              <a:rPr lang="en-US" sz="1150" dirty="0">
                <a:solidFill>
                  <a:srgbClr val="E7ECF2"/>
                </a:solidFill>
                <a:latin typeface="Arial" pitchFamily="34" charset="0"/>
                <a:ea typeface="Arial" pitchFamily="34" charset="-122"/>
                <a:cs typeface="Arial" pitchFamily="34" charset="-120"/>
              </a:rPr>
              <a:t>•  React 18</a:t>
            </a:r>
            <a:endParaRPr lang="en-US" sz="1150" dirty="0"/>
          </a:p>
          <a:p>
            <a:pPr indent="0" marL="0">
              <a:lnSpc>
                <a:spcPts val="2600"/>
              </a:lnSpc>
              <a:buNone/>
            </a:pPr>
            <a:r>
              <a:rPr lang="en-US" sz="1150" dirty="0">
                <a:solidFill>
                  <a:srgbClr val="E7ECF2"/>
                </a:solidFill>
                <a:latin typeface="Arial" pitchFamily="34" charset="0"/>
                <a:ea typeface="Arial" pitchFamily="34" charset="-122"/>
                <a:cs typeface="Arial" pitchFamily="34" charset="-120"/>
              </a:rPr>
              <a:t>•  Recharts</a:t>
            </a:r>
            <a:endParaRPr lang="en-US" sz="1150" dirty="0"/>
          </a:p>
          <a:p>
            <a:pPr indent="0" marL="0">
              <a:lnSpc>
                <a:spcPts val="2600"/>
              </a:lnSpc>
              <a:buNone/>
            </a:pPr>
            <a:r>
              <a:rPr lang="en-US" sz="1150" dirty="0">
                <a:solidFill>
                  <a:srgbClr val="E7ECF2"/>
                </a:solidFill>
                <a:latin typeface="Arial" pitchFamily="34" charset="0"/>
                <a:ea typeface="Arial" pitchFamily="34" charset="-122"/>
                <a:cs typeface="Arial" pitchFamily="34" charset="-120"/>
              </a:rPr>
              <a:t>•  Custom SVG force-graph</a:t>
            </a:r>
            <a:endParaRPr lang="en-US" sz="1150" dirty="0"/>
          </a:p>
          <a:p>
            <a:pPr indent="0" marL="0">
              <a:lnSpc>
                <a:spcPts val="2600"/>
              </a:lnSpc>
              <a:buNone/>
            </a:pPr>
            <a:r>
              <a:rPr lang="en-US" sz="1150" dirty="0">
                <a:solidFill>
                  <a:srgbClr val="E7ECF2"/>
                </a:solidFill>
                <a:latin typeface="Arial" pitchFamily="34" charset="0"/>
                <a:ea typeface="Arial" pitchFamily="34" charset="-122"/>
                <a:cs typeface="Arial" pitchFamily="34" charset="-120"/>
              </a:rPr>
              <a:t>•  Vite build → Vercel/Netlify</a:t>
            </a:r>
            <a:endParaRPr lang="en-US" sz="1150" dirty="0"/>
          </a:p>
        </p:txBody>
      </p:sp>
      <p:sp>
        <p:nvSpPr>
          <p:cNvPr id="7" name="Shape 5"/>
          <p:cNvSpPr/>
          <p:nvPr/>
        </p:nvSpPr>
        <p:spPr>
          <a:xfrm>
            <a:off x="4297680" y="1691640"/>
            <a:ext cx="3566160" cy="3291840"/>
          </a:xfrm>
          <a:prstGeom prst="rect">
            <a:avLst/>
          </a:prstGeom>
          <a:solidFill>
            <a:srgbClr val="141B24"/>
          </a:solidFill>
          <a:ln w="12700">
            <a:solidFill>
              <a:srgbClr val="1E2733"/>
            </a:solidFill>
            <a:prstDash val="solid"/>
          </a:ln>
        </p:spPr>
      </p:sp>
      <p:sp>
        <p:nvSpPr>
          <p:cNvPr id="8" name="Text 6"/>
          <p:cNvSpPr/>
          <p:nvPr/>
        </p:nvSpPr>
        <p:spPr>
          <a:xfrm>
            <a:off x="4526280" y="1920240"/>
            <a:ext cx="3108960" cy="320040"/>
          </a:xfrm>
          <a:prstGeom prst="rect">
            <a:avLst/>
          </a:prstGeom>
          <a:noFill/>
          <a:ln/>
        </p:spPr>
        <p:txBody>
          <a:bodyPr wrap="square" rtlCol="0" anchor="ctr"/>
          <a:lstStyle/>
          <a:p>
            <a:pPr indent="0" marL="0">
              <a:buNone/>
            </a:pPr>
            <a:r>
              <a:rPr lang="en-US" sz="1050" spc="150" kern="0" dirty="0">
                <a:solidFill>
                  <a:srgbClr val="F2A93C"/>
                </a:solidFill>
                <a:latin typeface="Consolas" pitchFamily="34" charset="0"/>
                <a:ea typeface="Consolas" pitchFamily="34" charset="-122"/>
                <a:cs typeface="Consolas" pitchFamily="34" charset="-120"/>
              </a:rPr>
              <a:t>BACKEND</a:t>
            </a:r>
            <a:endParaRPr lang="en-US" sz="1050" dirty="0"/>
          </a:p>
        </p:txBody>
      </p:sp>
      <p:sp>
        <p:nvSpPr>
          <p:cNvPr id="9" name="Text 7"/>
          <p:cNvSpPr/>
          <p:nvPr/>
        </p:nvSpPr>
        <p:spPr>
          <a:xfrm>
            <a:off x="4526280" y="2377440"/>
            <a:ext cx="3108960" cy="2468880"/>
          </a:xfrm>
          <a:prstGeom prst="rect">
            <a:avLst/>
          </a:prstGeom>
          <a:noFill/>
          <a:ln/>
        </p:spPr>
        <p:txBody>
          <a:bodyPr wrap="square" rtlCol="0" anchor="ctr"/>
          <a:lstStyle/>
          <a:p>
            <a:pPr indent="0" marL="0">
              <a:lnSpc>
                <a:spcPts val="2600"/>
              </a:lnSpc>
              <a:buNone/>
            </a:pPr>
            <a:r>
              <a:rPr lang="en-US" sz="1150" dirty="0">
                <a:solidFill>
                  <a:srgbClr val="E7ECF2"/>
                </a:solidFill>
                <a:latin typeface="Arial" pitchFamily="34" charset="0"/>
                <a:ea typeface="Arial" pitchFamily="34" charset="-122"/>
                <a:cs typeface="Arial" pitchFamily="34" charset="-120"/>
              </a:rPr>
              <a:t>•  FastAPI + Pydantic v2</a:t>
            </a:r>
            <a:endParaRPr lang="en-US" sz="1150" dirty="0"/>
          </a:p>
          <a:p>
            <a:pPr indent="0" marL="0">
              <a:lnSpc>
                <a:spcPts val="2600"/>
              </a:lnSpc>
              <a:buNone/>
            </a:pPr>
            <a:r>
              <a:rPr lang="en-US" sz="1150" dirty="0">
                <a:solidFill>
                  <a:srgbClr val="E7ECF2"/>
                </a:solidFill>
                <a:latin typeface="Arial" pitchFamily="34" charset="0"/>
                <a:ea typeface="Arial" pitchFamily="34" charset="-122"/>
                <a:cs typeface="Arial" pitchFamily="34" charset="-120"/>
              </a:rPr>
              <a:t>•  SQLAlchemy 2.0 ORM</a:t>
            </a:r>
            <a:endParaRPr lang="en-US" sz="1150" dirty="0"/>
          </a:p>
          <a:p>
            <a:pPr indent="0" marL="0">
              <a:lnSpc>
                <a:spcPts val="2600"/>
              </a:lnSpc>
              <a:buNone/>
            </a:pPr>
            <a:r>
              <a:rPr lang="en-US" sz="1150" dirty="0">
                <a:solidFill>
                  <a:srgbClr val="E7ECF2"/>
                </a:solidFill>
                <a:latin typeface="Arial" pitchFamily="34" charset="0"/>
                <a:ea typeface="Arial" pitchFamily="34" charset="-122"/>
                <a:cs typeface="Arial" pitchFamily="34" charset="-120"/>
              </a:rPr>
              <a:t>•  JWT auth (python-jose)</a:t>
            </a:r>
            <a:endParaRPr lang="en-US" sz="1150" dirty="0"/>
          </a:p>
          <a:p>
            <a:pPr indent="0" marL="0">
              <a:lnSpc>
                <a:spcPts val="2600"/>
              </a:lnSpc>
              <a:buNone/>
            </a:pPr>
            <a:r>
              <a:rPr lang="en-US" sz="1150" dirty="0">
                <a:solidFill>
                  <a:srgbClr val="E7ECF2"/>
                </a:solidFill>
                <a:latin typeface="Arial" pitchFamily="34" charset="0"/>
                <a:ea typeface="Arial" pitchFamily="34" charset="-122"/>
                <a:cs typeface="Arial" pitchFamily="34" charset="-120"/>
              </a:rPr>
              <a:t>•  Docker + docker-compose</a:t>
            </a:r>
            <a:endParaRPr lang="en-US" sz="1150" dirty="0"/>
          </a:p>
        </p:txBody>
      </p:sp>
      <p:sp>
        <p:nvSpPr>
          <p:cNvPr id="10" name="Shape 8"/>
          <p:cNvSpPr/>
          <p:nvPr/>
        </p:nvSpPr>
        <p:spPr>
          <a:xfrm>
            <a:off x="8046720" y="1691640"/>
            <a:ext cx="3566160" cy="3291840"/>
          </a:xfrm>
          <a:prstGeom prst="rect">
            <a:avLst/>
          </a:prstGeom>
          <a:solidFill>
            <a:srgbClr val="141B24"/>
          </a:solidFill>
          <a:ln w="12700">
            <a:solidFill>
              <a:srgbClr val="1E2733"/>
            </a:solidFill>
            <a:prstDash val="solid"/>
          </a:ln>
        </p:spPr>
      </p:sp>
      <p:sp>
        <p:nvSpPr>
          <p:cNvPr id="11" name="Text 9"/>
          <p:cNvSpPr/>
          <p:nvPr/>
        </p:nvSpPr>
        <p:spPr>
          <a:xfrm>
            <a:off x="8275320" y="1920240"/>
            <a:ext cx="3108960" cy="320040"/>
          </a:xfrm>
          <a:prstGeom prst="rect">
            <a:avLst/>
          </a:prstGeom>
          <a:noFill/>
          <a:ln/>
        </p:spPr>
        <p:txBody>
          <a:bodyPr wrap="square" rtlCol="0" anchor="ctr"/>
          <a:lstStyle/>
          <a:p>
            <a:pPr indent="0" marL="0">
              <a:buNone/>
            </a:pPr>
            <a:r>
              <a:rPr lang="en-US" sz="1050" spc="150" kern="0" dirty="0">
                <a:solidFill>
                  <a:srgbClr val="F2A93C"/>
                </a:solidFill>
                <a:latin typeface="Consolas" pitchFamily="34" charset="0"/>
                <a:ea typeface="Consolas" pitchFamily="34" charset="-122"/>
                <a:cs typeface="Consolas" pitchFamily="34" charset="-120"/>
              </a:rPr>
              <a:t>DATA</a:t>
            </a:r>
            <a:endParaRPr lang="en-US" sz="1050" dirty="0"/>
          </a:p>
        </p:txBody>
      </p:sp>
      <p:sp>
        <p:nvSpPr>
          <p:cNvPr id="12" name="Text 10"/>
          <p:cNvSpPr/>
          <p:nvPr/>
        </p:nvSpPr>
        <p:spPr>
          <a:xfrm>
            <a:off x="8275320" y="2377440"/>
            <a:ext cx="3108960" cy="2468880"/>
          </a:xfrm>
          <a:prstGeom prst="rect">
            <a:avLst/>
          </a:prstGeom>
          <a:noFill/>
          <a:ln/>
        </p:spPr>
        <p:txBody>
          <a:bodyPr wrap="square" rtlCol="0" anchor="ctr"/>
          <a:lstStyle/>
          <a:p>
            <a:pPr indent="0" marL="0">
              <a:lnSpc>
                <a:spcPts val="2600"/>
              </a:lnSpc>
              <a:buNone/>
            </a:pPr>
            <a:r>
              <a:rPr lang="en-US" sz="1150" dirty="0">
                <a:solidFill>
                  <a:srgbClr val="E7ECF2"/>
                </a:solidFill>
                <a:latin typeface="Arial" pitchFamily="34" charset="0"/>
                <a:ea typeface="Arial" pitchFamily="34" charset="-122"/>
                <a:cs typeface="Arial" pitchFamily="34" charset="-120"/>
              </a:rPr>
              <a:t>•  PostgreSQL + PostGIS</a:t>
            </a:r>
            <a:endParaRPr lang="en-US" sz="1150" dirty="0"/>
          </a:p>
          <a:p>
            <a:pPr indent="0" marL="0">
              <a:lnSpc>
                <a:spcPts val="2600"/>
              </a:lnSpc>
              <a:buNone/>
            </a:pPr>
            <a:r>
              <a:rPr lang="en-US" sz="1150" dirty="0">
                <a:solidFill>
                  <a:srgbClr val="E7ECF2"/>
                </a:solidFill>
                <a:latin typeface="Arial" pitchFamily="34" charset="0"/>
                <a:ea typeface="Arial" pitchFamily="34" charset="-122"/>
                <a:cs typeface="Arial" pitchFamily="34" charset="-120"/>
              </a:rPr>
              <a:t>•  Neo4j graph store</a:t>
            </a:r>
            <a:endParaRPr lang="en-US" sz="1150" dirty="0"/>
          </a:p>
          <a:p>
            <a:pPr indent="0" marL="0">
              <a:lnSpc>
                <a:spcPts val="2600"/>
              </a:lnSpc>
              <a:buNone/>
            </a:pPr>
            <a:r>
              <a:rPr lang="en-US" sz="1150" dirty="0">
                <a:solidFill>
                  <a:srgbClr val="E7ECF2"/>
                </a:solidFill>
                <a:latin typeface="Arial" pitchFamily="34" charset="0"/>
                <a:ea typeface="Arial" pitchFamily="34" charset="-122"/>
                <a:cs typeface="Arial" pitchFamily="34" charset="-120"/>
              </a:rPr>
              <a:t>•  Scikit-learn IsolationForest</a:t>
            </a:r>
            <a:endParaRPr lang="en-US" sz="1150" dirty="0"/>
          </a:p>
          <a:p>
            <a:pPr indent="0" marL="0">
              <a:lnSpc>
                <a:spcPts val="2600"/>
              </a:lnSpc>
              <a:buNone/>
            </a:pPr>
            <a:r>
              <a:rPr lang="en-US" sz="1150" dirty="0">
                <a:solidFill>
                  <a:srgbClr val="E7ECF2"/>
                </a:solidFill>
                <a:latin typeface="Arial" pitchFamily="34" charset="0"/>
                <a:ea typeface="Arial" pitchFamily="34" charset="-122"/>
                <a:cs typeface="Arial" pitchFamily="34" charset="-120"/>
              </a:rPr>
              <a:t>•  Pandas ingestion pipeline</a:t>
            </a:r>
            <a:endParaRPr lang="en-US" sz="1150" dirty="0"/>
          </a:p>
        </p:txBody>
      </p:sp>
      <p:sp>
        <p:nvSpPr>
          <p:cNvPr id="13" name="Text 11"/>
          <p:cNvSpPr/>
          <p:nvPr/>
        </p:nvSpPr>
        <p:spPr>
          <a:xfrm>
            <a:off x="548640" y="5257800"/>
            <a:ext cx="10972800" cy="457200"/>
          </a:xfrm>
          <a:prstGeom prst="rect">
            <a:avLst/>
          </a:prstGeom>
          <a:noFill/>
          <a:ln/>
        </p:spPr>
        <p:txBody>
          <a:bodyPr wrap="square" rtlCol="0" anchor="ctr"/>
          <a:lstStyle/>
          <a:p>
            <a:pPr indent="0" marL="0">
              <a:buNone/>
            </a:pPr>
            <a:r>
              <a:rPr lang="en-US" sz="1100" dirty="0">
                <a:solidFill>
                  <a:srgbClr val="2A8C8C"/>
                </a:solidFill>
                <a:latin typeface="Consolas" pitchFamily="34" charset="0"/>
                <a:ea typeface="Consolas" pitchFamily="34" charset="-122"/>
                <a:cs typeface="Consolas" pitchFamily="34" charset="-120"/>
              </a:rPr>
              <a:t>Deploy target:  Railway / Render (fastest)   ·   Docker + VPS   ·   AWS ECS Fargate + RDS   ·   Google Cloud Run</a:t>
            </a:r>
            <a:endParaRPr lang="en-US" sz="1100" dirty="0"/>
          </a:p>
        </p:txBody>
      </p:sp>
      <p:sp>
        <p:nvSpPr>
          <p:cNvPr id="14" name="Text 12"/>
          <p:cNvSpPr/>
          <p:nvPr/>
        </p:nvSpPr>
        <p:spPr>
          <a:xfrm>
            <a:off x="548640" y="5715000"/>
            <a:ext cx="10972800" cy="365760"/>
          </a:xfrm>
          <a:prstGeom prst="rect">
            <a:avLst/>
          </a:prstGeom>
          <a:noFill/>
          <a:ln/>
        </p:spPr>
        <p:txBody>
          <a:bodyPr wrap="square" rtlCol="0" anchor="ctr"/>
          <a:lstStyle/>
          <a:p>
            <a:pPr indent="0" marL="0">
              <a:buNone/>
            </a:pPr>
            <a:r>
              <a:rPr lang="en-US" sz="1050" dirty="0">
                <a:solidFill>
                  <a:srgbClr val="8FA0B3"/>
                </a:solidFill>
                <a:latin typeface="Consolas" pitchFamily="34" charset="0"/>
                <a:ea typeface="Consolas" pitchFamily="34" charset="-122"/>
                <a:cs typeface="Consolas" pitchFamily="34" charset="-120"/>
              </a:rPr>
              <a:t>One command locally:  docker compose up --build</a:t>
            </a:r>
            <a:endParaRPr lang="en-US" sz="1050" dirty="0"/>
          </a:p>
        </p:txBody>
      </p:sp>
      <p:sp>
        <p:nvSpPr>
          <p:cNvPr id="15" name="Text 13"/>
          <p:cNvSpPr/>
          <p:nvPr/>
        </p:nvSpPr>
        <p:spPr>
          <a:xfrm>
            <a:off x="548640" y="6446520"/>
            <a:ext cx="2743200" cy="274320"/>
          </a:xfrm>
          <a:prstGeom prst="rect">
            <a:avLst/>
          </a:prstGeom>
          <a:noFill/>
          <a:ln/>
        </p:spPr>
        <p:txBody>
          <a:bodyPr wrap="square" rtlCol="0" anchor="ctr"/>
          <a:lstStyle/>
          <a:p>
            <a:pPr indent="0" marL="0">
              <a:buNone/>
            </a:pPr>
            <a:r>
              <a:rPr lang="en-US" sz="900" b="1" spc="100" kern="0" dirty="0">
                <a:solidFill>
                  <a:srgbClr val="8FA0B3"/>
                </a:solidFill>
                <a:latin typeface="Arial" pitchFamily="34" charset="0"/>
                <a:ea typeface="Arial" pitchFamily="34" charset="-122"/>
                <a:cs typeface="Arial" pitchFamily="34" charset="-120"/>
              </a:rPr>
              <a:t>KSP · CIAP</a:t>
            </a:r>
            <a:endParaRPr lang="en-US" sz="900" dirty="0"/>
          </a:p>
        </p:txBody>
      </p:sp>
      <p:sp>
        <p:nvSpPr>
          <p:cNvPr id="16" name="Text 14"/>
          <p:cNvSpPr/>
          <p:nvPr/>
        </p:nvSpPr>
        <p:spPr>
          <a:xfrm>
            <a:off x="11521440" y="6446520"/>
            <a:ext cx="548640" cy="274320"/>
          </a:xfrm>
          <a:prstGeom prst="rect">
            <a:avLst/>
          </a:prstGeom>
          <a:noFill/>
          <a:ln/>
        </p:spPr>
        <p:txBody>
          <a:bodyPr wrap="square" rtlCol="0" anchor="ctr"/>
          <a:lstStyle/>
          <a:p>
            <a:pPr indent="0" marL="0">
              <a:buNone/>
            </a:pPr>
            <a:r>
              <a:rPr lang="en-US" sz="1000" dirty="0">
                <a:solidFill>
                  <a:srgbClr val="8FA0B3"/>
                </a:solidFill>
                <a:latin typeface="Consolas" pitchFamily="34" charset="0"/>
                <a:ea typeface="Consolas" pitchFamily="34" charset="-122"/>
                <a:cs typeface="Consolas"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indent="0" marL="0">
              <a:buNone/>
            </a:pPr>
            <a:r>
              <a:rPr lang="en-US" sz="1100" b="1" spc="200" kern="0" dirty="0">
                <a:solidFill>
                  <a:srgbClr val="F2A93C"/>
                </a:solidFill>
                <a:latin typeface="Arial" pitchFamily="34" charset="0"/>
                <a:ea typeface="Arial" pitchFamily="34" charset="-122"/>
                <a:cs typeface="Arial" pitchFamily="34" charset="-120"/>
              </a:rPr>
              <a:t>ROADMAP</a:t>
            </a:r>
            <a:endParaRPr lang="en-US" sz="1100" dirty="0"/>
          </a:p>
        </p:txBody>
      </p:sp>
      <p:sp>
        <p:nvSpPr>
          <p:cNvPr id="3" name="Text 1"/>
          <p:cNvSpPr/>
          <p:nvPr/>
        </p:nvSpPr>
        <p:spPr>
          <a:xfrm>
            <a:off x="548640" y="777240"/>
            <a:ext cx="9144000" cy="5486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From prototype to deployment</a:t>
            </a:r>
            <a:endParaRPr lang="en-US" sz="2600" dirty="0"/>
          </a:p>
        </p:txBody>
      </p:sp>
      <p:sp>
        <p:nvSpPr>
          <p:cNvPr id="4" name="Shape 2"/>
          <p:cNvSpPr/>
          <p:nvPr/>
        </p:nvSpPr>
        <p:spPr>
          <a:xfrm>
            <a:off x="548640" y="2103120"/>
            <a:ext cx="3611880" cy="3657600"/>
          </a:xfrm>
          <a:prstGeom prst="rect">
            <a:avLst/>
          </a:prstGeom>
          <a:solidFill>
            <a:srgbClr val="141B24"/>
          </a:solidFill>
          <a:ln w="12700">
            <a:solidFill>
              <a:srgbClr val="1E2733"/>
            </a:solidFill>
            <a:prstDash val="solid"/>
          </a:ln>
        </p:spPr>
      </p:sp>
      <p:sp>
        <p:nvSpPr>
          <p:cNvPr id="5" name="Shape 3"/>
          <p:cNvSpPr/>
          <p:nvPr/>
        </p:nvSpPr>
        <p:spPr>
          <a:xfrm>
            <a:off x="548640" y="2103120"/>
            <a:ext cx="3611880" cy="73152"/>
          </a:xfrm>
          <a:prstGeom prst="rect">
            <a:avLst/>
          </a:prstGeom>
          <a:solidFill>
            <a:srgbClr val="2A8C8C"/>
          </a:solidFill>
          <a:ln/>
        </p:spPr>
      </p:sp>
      <p:sp>
        <p:nvSpPr>
          <p:cNvPr id="6" name="Text 4"/>
          <p:cNvSpPr/>
          <p:nvPr/>
        </p:nvSpPr>
        <p:spPr>
          <a:xfrm>
            <a:off x="777240" y="2377440"/>
            <a:ext cx="3154680" cy="365760"/>
          </a:xfrm>
          <a:prstGeom prst="rect">
            <a:avLst/>
          </a:prstGeom>
          <a:noFill/>
          <a:ln/>
        </p:spPr>
        <p:txBody>
          <a:bodyPr wrap="square" rtlCol="0" anchor="ctr"/>
          <a:lstStyle/>
          <a:p>
            <a:pPr indent="0" marL="0">
              <a:buNone/>
            </a:pPr>
            <a:r>
              <a:rPr lang="en-US" sz="1300" b="1" spc="200" kern="0" dirty="0">
                <a:solidFill>
                  <a:srgbClr val="2A8C8C"/>
                </a:solidFill>
                <a:latin typeface="Consolas" pitchFamily="34" charset="0"/>
                <a:ea typeface="Consolas" pitchFamily="34" charset="-122"/>
                <a:cs typeface="Consolas" pitchFamily="34" charset="-120"/>
              </a:rPr>
              <a:t>NOW</a:t>
            </a:r>
            <a:endParaRPr lang="en-US" sz="1300" dirty="0"/>
          </a:p>
        </p:txBody>
      </p:sp>
      <p:sp>
        <p:nvSpPr>
          <p:cNvPr id="7" name="Text 5"/>
          <p:cNvSpPr/>
          <p:nvPr/>
        </p:nvSpPr>
        <p:spPr>
          <a:xfrm>
            <a:off x="777240" y="2880360"/>
            <a:ext cx="3154680" cy="2651760"/>
          </a:xfrm>
          <a:prstGeom prst="rect">
            <a:avLst/>
          </a:prstGeom>
          <a:noFill/>
          <a:ln/>
        </p:spPr>
        <p:txBody>
          <a:bodyPr wrap="square" rtlCol="0" anchor="ctr"/>
          <a:lstStyle/>
          <a:p>
            <a:pPr indent="0" marL="0">
              <a:lnSpc>
                <a:spcPts val="1800"/>
              </a:lnSpc>
              <a:buNone/>
            </a:pPr>
            <a:r>
              <a:rPr lang="en-US" sz="1200" dirty="0">
                <a:solidFill>
                  <a:srgbClr val="E7ECF2"/>
                </a:solidFill>
                <a:latin typeface="Arial" pitchFamily="34" charset="0"/>
                <a:ea typeface="Arial" pitchFamily="34" charset="-122"/>
                <a:cs typeface="Arial" pitchFamily="34" charset="-120"/>
              </a:rPr>
              <a:t>Interactive dashboard · REST API on SQLite/Postgres · mock predictive scoring · RBAC</a:t>
            </a:r>
            <a:endParaRPr lang="en-US" sz="1200" dirty="0"/>
          </a:p>
        </p:txBody>
      </p:sp>
      <p:sp>
        <p:nvSpPr>
          <p:cNvPr id="8" name="Text 6"/>
          <p:cNvSpPr/>
          <p:nvPr/>
        </p:nvSpPr>
        <p:spPr>
          <a:xfrm>
            <a:off x="4178808" y="3657600"/>
            <a:ext cx="320040" cy="365760"/>
          </a:xfrm>
          <a:prstGeom prst="rect">
            <a:avLst/>
          </a:prstGeom>
          <a:noFill/>
          <a:ln/>
        </p:spPr>
        <p:txBody>
          <a:bodyPr wrap="square" rtlCol="0" anchor="ctr"/>
          <a:lstStyle/>
          <a:p>
            <a:pPr algn="ctr" indent="0" marL="0">
              <a:buNone/>
            </a:pPr>
            <a:r>
              <a:rPr lang="en-US" sz="2000" dirty="0">
                <a:solidFill>
                  <a:srgbClr val="8FA0B3"/>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4343400" y="2103120"/>
            <a:ext cx="3611880" cy="3657600"/>
          </a:xfrm>
          <a:prstGeom prst="rect">
            <a:avLst/>
          </a:prstGeom>
          <a:solidFill>
            <a:srgbClr val="141B24"/>
          </a:solidFill>
          <a:ln w="12700">
            <a:solidFill>
              <a:srgbClr val="1E2733"/>
            </a:solidFill>
            <a:prstDash val="solid"/>
          </a:ln>
        </p:spPr>
      </p:sp>
      <p:sp>
        <p:nvSpPr>
          <p:cNvPr id="10" name="Shape 8"/>
          <p:cNvSpPr/>
          <p:nvPr/>
        </p:nvSpPr>
        <p:spPr>
          <a:xfrm>
            <a:off x="4343400" y="2103120"/>
            <a:ext cx="3611880" cy="73152"/>
          </a:xfrm>
          <a:prstGeom prst="rect">
            <a:avLst/>
          </a:prstGeom>
          <a:solidFill>
            <a:srgbClr val="F2A93C"/>
          </a:solidFill>
          <a:ln/>
        </p:spPr>
      </p:sp>
      <p:sp>
        <p:nvSpPr>
          <p:cNvPr id="11" name="Text 9"/>
          <p:cNvSpPr/>
          <p:nvPr/>
        </p:nvSpPr>
        <p:spPr>
          <a:xfrm>
            <a:off x="4572000" y="2377440"/>
            <a:ext cx="3154680" cy="365760"/>
          </a:xfrm>
          <a:prstGeom prst="rect">
            <a:avLst/>
          </a:prstGeom>
          <a:noFill/>
          <a:ln/>
        </p:spPr>
        <p:txBody>
          <a:bodyPr wrap="square" rtlCol="0" anchor="ctr"/>
          <a:lstStyle/>
          <a:p>
            <a:pPr indent="0" marL="0">
              <a:buNone/>
            </a:pPr>
            <a:r>
              <a:rPr lang="en-US" sz="1300" b="1" spc="200" kern="0" dirty="0">
                <a:solidFill>
                  <a:srgbClr val="F2A93C"/>
                </a:solidFill>
                <a:latin typeface="Consolas" pitchFamily="34" charset="0"/>
                <a:ea typeface="Consolas" pitchFamily="34" charset="-122"/>
                <a:cs typeface="Consolas" pitchFamily="34" charset="-120"/>
              </a:rPr>
              <a:t>NEXT</a:t>
            </a:r>
            <a:endParaRPr lang="en-US" sz="1300" dirty="0"/>
          </a:p>
        </p:txBody>
      </p:sp>
      <p:sp>
        <p:nvSpPr>
          <p:cNvPr id="12" name="Text 10"/>
          <p:cNvSpPr/>
          <p:nvPr/>
        </p:nvSpPr>
        <p:spPr>
          <a:xfrm>
            <a:off x="4572000" y="2880360"/>
            <a:ext cx="3154680" cy="2651760"/>
          </a:xfrm>
          <a:prstGeom prst="rect">
            <a:avLst/>
          </a:prstGeom>
          <a:noFill/>
          <a:ln/>
        </p:spPr>
        <p:txBody>
          <a:bodyPr wrap="square" rtlCol="0" anchor="ctr"/>
          <a:lstStyle/>
          <a:p>
            <a:pPr indent="0" marL="0">
              <a:lnSpc>
                <a:spcPts val="1800"/>
              </a:lnSpc>
              <a:buNone/>
            </a:pPr>
            <a:r>
              <a:rPr lang="en-US" sz="1200" dirty="0">
                <a:solidFill>
                  <a:srgbClr val="E7ECF2"/>
                </a:solidFill>
                <a:latin typeface="Arial" pitchFamily="34" charset="0"/>
                <a:ea typeface="Arial" pitchFamily="34" charset="-122"/>
                <a:cs typeface="Arial" pitchFamily="34" charset="-120"/>
              </a:rPr>
              <a:t>Live Neo4j link-analysis queries · real IsolationForest training on historical FIR data · Mapbox GL rendering</a:t>
            </a:r>
            <a:endParaRPr lang="en-US" sz="1200" dirty="0"/>
          </a:p>
        </p:txBody>
      </p:sp>
      <p:sp>
        <p:nvSpPr>
          <p:cNvPr id="13" name="Text 11"/>
          <p:cNvSpPr/>
          <p:nvPr/>
        </p:nvSpPr>
        <p:spPr>
          <a:xfrm>
            <a:off x="7973568" y="3657600"/>
            <a:ext cx="320040" cy="365760"/>
          </a:xfrm>
          <a:prstGeom prst="rect">
            <a:avLst/>
          </a:prstGeom>
          <a:noFill/>
          <a:ln/>
        </p:spPr>
        <p:txBody>
          <a:bodyPr wrap="square" rtlCol="0" anchor="ctr"/>
          <a:lstStyle/>
          <a:p>
            <a:pPr algn="ctr" indent="0" marL="0">
              <a:buNone/>
            </a:pPr>
            <a:r>
              <a:rPr lang="en-US" sz="2000" dirty="0">
                <a:solidFill>
                  <a:srgbClr val="8FA0B3"/>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8138160" y="2103120"/>
            <a:ext cx="3611880" cy="3657600"/>
          </a:xfrm>
          <a:prstGeom prst="rect">
            <a:avLst/>
          </a:prstGeom>
          <a:solidFill>
            <a:srgbClr val="141B24"/>
          </a:solidFill>
          <a:ln w="12700">
            <a:solidFill>
              <a:srgbClr val="1E2733"/>
            </a:solidFill>
            <a:prstDash val="solid"/>
          </a:ln>
        </p:spPr>
      </p:sp>
      <p:sp>
        <p:nvSpPr>
          <p:cNvPr id="15" name="Shape 13"/>
          <p:cNvSpPr/>
          <p:nvPr/>
        </p:nvSpPr>
        <p:spPr>
          <a:xfrm>
            <a:off x="8138160" y="2103120"/>
            <a:ext cx="3611880" cy="73152"/>
          </a:xfrm>
          <a:prstGeom prst="rect">
            <a:avLst/>
          </a:prstGeom>
          <a:solidFill>
            <a:srgbClr val="D64545"/>
          </a:solidFill>
          <a:ln/>
        </p:spPr>
      </p:sp>
      <p:sp>
        <p:nvSpPr>
          <p:cNvPr id="16" name="Text 14"/>
          <p:cNvSpPr/>
          <p:nvPr/>
        </p:nvSpPr>
        <p:spPr>
          <a:xfrm>
            <a:off x="8366760" y="2377440"/>
            <a:ext cx="3154680" cy="365760"/>
          </a:xfrm>
          <a:prstGeom prst="rect">
            <a:avLst/>
          </a:prstGeom>
          <a:noFill/>
          <a:ln/>
        </p:spPr>
        <p:txBody>
          <a:bodyPr wrap="square" rtlCol="0" anchor="ctr"/>
          <a:lstStyle/>
          <a:p>
            <a:pPr indent="0" marL="0">
              <a:buNone/>
            </a:pPr>
            <a:r>
              <a:rPr lang="en-US" sz="1300" b="1" spc="200" kern="0" dirty="0">
                <a:solidFill>
                  <a:srgbClr val="D64545"/>
                </a:solidFill>
                <a:latin typeface="Consolas" pitchFamily="34" charset="0"/>
                <a:ea typeface="Consolas" pitchFamily="34" charset="-122"/>
                <a:cs typeface="Consolas" pitchFamily="34" charset="-120"/>
              </a:rPr>
              <a:t>LATER</a:t>
            </a:r>
            <a:endParaRPr lang="en-US" sz="1300" dirty="0"/>
          </a:p>
        </p:txBody>
      </p:sp>
      <p:sp>
        <p:nvSpPr>
          <p:cNvPr id="17" name="Text 15"/>
          <p:cNvSpPr/>
          <p:nvPr/>
        </p:nvSpPr>
        <p:spPr>
          <a:xfrm>
            <a:off x="8366760" y="2880360"/>
            <a:ext cx="3154680" cy="2651760"/>
          </a:xfrm>
          <a:prstGeom prst="rect">
            <a:avLst/>
          </a:prstGeom>
          <a:noFill/>
          <a:ln/>
        </p:spPr>
        <p:txBody>
          <a:bodyPr wrap="square" rtlCol="0" anchor="ctr"/>
          <a:lstStyle/>
          <a:p>
            <a:pPr indent="0" marL="0">
              <a:lnSpc>
                <a:spcPts val="1800"/>
              </a:lnSpc>
              <a:buNone/>
            </a:pPr>
            <a:r>
              <a:rPr lang="en-US" sz="1200" dirty="0">
                <a:solidFill>
                  <a:srgbClr val="E7ECF2"/>
                </a:solidFill>
                <a:latin typeface="Arial" pitchFamily="34" charset="0"/>
                <a:ea typeface="Arial" pitchFamily="34" charset="-122"/>
                <a:cs typeface="Arial" pitchFamily="34" charset="-120"/>
              </a:rPr>
              <a:t>WebSocket real-time alerts · field-officer mobile app · integration with state FIR systems · full audit trail</a:t>
            </a:r>
            <a:endParaRPr lang="en-US" sz="1200" dirty="0"/>
          </a:p>
        </p:txBody>
      </p:sp>
      <p:sp>
        <p:nvSpPr>
          <p:cNvPr id="18" name="Text 16"/>
          <p:cNvSpPr/>
          <p:nvPr/>
        </p:nvSpPr>
        <p:spPr>
          <a:xfrm>
            <a:off x="548640" y="6446520"/>
            <a:ext cx="2743200" cy="274320"/>
          </a:xfrm>
          <a:prstGeom prst="rect">
            <a:avLst/>
          </a:prstGeom>
          <a:noFill/>
          <a:ln/>
        </p:spPr>
        <p:txBody>
          <a:bodyPr wrap="square" rtlCol="0" anchor="ctr"/>
          <a:lstStyle/>
          <a:p>
            <a:pPr indent="0" marL="0">
              <a:buNone/>
            </a:pPr>
            <a:r>
              <a:rPr lang="en-US" sz="900" b="1" spc="100" kern="0" dirty="0">
                <a:solidFill>
                  <a:srgbClr val="8FA0B3"/>
                </a:solidFill>
                <a:latin typeface="Arial" pitchFamily="34" charset="0"/>
                <a:ea typeface="Arial" pitchFamily="34" charset="-122"/>
                <a:cs typeface="Arial" pitchFamily="34" charset="-120"/>
              </a:rPr>
              <a:t>KSP · CIAP</a:t>
            </a:r>
            <a:endParaRPr lang="en-US" sz="900" dirty="0"/>
          </a:p>
        </p:txBody>
      </p:sp>
      <p:sp>
        <p:nvSpPr>
          <p:cNvPr id="19" name="Text 17"/>
          <p:cNvSpPr/>
          <p:nvPr/>
        </p:nvSpPr>
        <p:spPr>
          <a:xfrm>
            <a:off x="11521440" y="6446520"/>
            <a:ext cx="548640" cy="274320"/>
          </a:xfrm>
          <a:prstGeom prst="rect">
            <a:avLst/>
          </a:prstGeom>
          <a:noFill/>
          <a:ln/>
        </p:spPr>
        <p:txBody>
          <a:bodyPr wrap="square" rtlCol="0" anchor="ctr"/>
          <a:lstStyle/>
          <a:p>
            <a:pPr indent="0" marL="0">
              <a:buNone/>
            </a:pPr>
            <a:r>
              <a:rPr lang="en-US" sz="1000" dirty="0">
                <a:solidFill>
                  <a:srgbClr val="8FA0B3"/>
                </a:solidFill>
                <a:latin typeface="Consolas" pitchFamily="34" charset="0"/>
                <a:ea typeface="Consolas" pitchFamily="34" charset="-122"/>
                <a:cs typeface="Consolas"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F2A93C"/>
          </a:solidFill>
          <a:ln/>
        </p:spPr>
      </p:sp>
      <p:sp>
        <p:nvSpPr>
          <p:cNvPr id="3" name="Text 1"/>
          <p:cNvSpPr/>
          <p:nvPr/>
        </p:nvSpPr>
        <p:spPr>
          <a:xfrm>
            <a:off x="640080" y="2286000"/>
            <a:ext cx="9601200" cy="1645920"/>
          </a:xfrm>
          <a:prstGeom prst="rect">
            <a:avLst/>
          </a:prstGeom>
          <a:noFill/>
          <a:ln/>
        </p:spPr>
        <p:txBody>
          <a:bodyPr wrap="square" rtlCol="0" anchor="ctr"/>
          <a:lstStyle/>
          <a:p>
            <a:pPr indent="0" marL="0">
              <a:lnSpc>
                <a:spcPts val="3800"/>
              </a:lnSpc>
              <a:buNone/>
            </a:pPr>
            <a:r>
              <a:rPr lang="en-US" sz="3200" b="1" dirty="0">
                <a:solidFill>
                  <a:srgbClr val="FFFFFF"/>
                </a:solidFill>
                <a:latin typeface="Arial" pitchFamily="34" charset="0"/>
                <a:ea typeface="Arial" pitchFamily="34" charset="-122"/>
                <a:cs typeface="Arial" pitchFamily="34" charset="-120"/>
              </a:rPr>
              <a:t>Built to be handed to a</a:t>
            </a:r>
            <a:endParaRPr lang="en-US" sz="3200" dirty="0"/>
          </a:p>
          <a:p>
            <a:pPr indent="0" marL="0">
              <a:lnSpc>
                <a:spcPts val="3800"/>
              </a:lnSpc>
              <a:buNone/>
            </a:pPr>
            <a:r>
              <a:rPr lang="en-US" sz="3200" b="1" dirty="0">
                <a:solidFill>
                  <a:srgbClr val="FFFFFF"/>
                </a:solidFill>
                <a:latin typeface="Arial" pitchFamily="34" charset="0"/>
                <a:ea typeface="Arial" pitchFamily="34" charset="-122"/>
                <a:cs typeface="Arial" pitchFamily="34" charset="-120"/>
              </a:rPr>
              <a:t>real deployment, not just demoed.</a:t>
            </a:r>
            <a:endParaRPr lang="en-US" sz="3200" dirty="0"/>
          </a:p>
        </p:txBody>
      </p:sp>
      <p:sp>
        <p:nvSpPr>
          <p:cNvPr id="4" name="Text 2"/>
          <p:cNvSpPr/>
          <p:nvPr/>
        </p:nvSpPr>
        <p:spPr>
          <a:xfrm>
            <a:off x="685800" y="4023360"/>
            <a:ext cx="7315200" cy="457200"/>
          </a:xfrm>
          <a:prstGeom prst="rect">
            <a:avLst/>
          </a:prstGeom>
          <a:noFill/>
          <a:ln/>
        </p:spPr>
        <p:txBody>
          <a:bodyPr wrap="square" rtlCol="0" anchor="ctr"/>
          <a:lstStyle/>
          <a:p>
            <a:pPr indent="0" marL="0">
              <a:buNone/>
            </a:pPr>
            <a:r>
              <a:rPr lang="en-US" sz="1300" dirty="0">
                <a:solidFill>
                  <a:srgbClr val="F2A93C"/>
                </a:solidFill>
                <a:latin typeface="Consolas" pitchFamily="34" charset="0"/>
                <a:ea typeface="Consolas" pitchFamily="34" charset="-122"/>
                <a:cs typeface="Consolas" pitchFamily="34" charset="-120"/>
              </a:rPr>
              <a:t>KSP · CIAP — Crime Intelligence &amp; Analytical Platform</a:t>
            </a:r>
            <a:endParaRPr lang="en-US" sz="1300" dirty="0"/>
          </a:p>
        </p:txBody>
      </p:sp>
      <p:sp>
        <p:nvSpPr>
          <p:cNvPr id="5" name="Text 3"/>
          <p:cNvSpPr/>
          <p:nvPr/>
        </p:nvSpPr>
        <p:spPr>
          <a:xfrm>
            <a:off x="685800" y="4526280"/>
            <a:ext cx="8229600" cy="457200"/>
          </a:xfrm>
          <a:prstGeom prst="rect">
            <a:avLst/>
          </a:prstGeom>
          <a:noFill/>
          <a:ln/>
        </p:spPr>
        <p:txBody>
          <a:bodyPr wrap="square" rtlCol="0" anchor="ctr"/>
          <a:lstStyle/>
          <a:p>
            <a:pPr indent="0" marL="0">
              <a:buNone/>
            </a:pPr>
            <a:r>
              <a:rPr lang="en-US" sz="1200" dirty="0">
                <a:solidFill>
                  <a:srgbClr val="E7ECF2"/>
                </a:solidFill>
                <a:latin typeface="Arial" pitchFamily="34" charset="0"/>
                <a:ea typeface="Arial" pitchFamily="34" charset="-122"/>
                <a:cs typeface="Arial" pitchFamily="34" charset="-120"/>
              </a:rPr>
              <a:t>Dashboard  ·  FastAPI backend  ·  PostGIS + Neo4j schema  ·  Docker deployment  ·  Technical docs</a:t>
            </a:r>
            <a:endParaRPr lang="en-US" sz="1200" dirty="0"/>
          </a:p>
        </p:txBody>
      </p:sp>
      <p:sp>
        <p:nvSpPr>
          <p:cNvPr id="6" name="Text 4"/>
          <p:cNvSpPr/>
          <p:nvPr/>
        </p:nvSpPr>
        <p:spPr>
          <a:xfrm>
            <a:off x="11521440" y="6446520"/>
            <a:ext cx="548640" cy="274320"/>
          </a:xfrm>
          <a:prstGeom prst="rect">
            <a:avLst/>
          </a:prstGeom>
          <a:noFill/>
          <a:ln/>
        </p:spPr>
        <p:txBody>
          <a:bodyPr wrap="square" rtlCol="0" anchor="ctr"/>
          <a:lstStyle/>
          <a:p>
            <a:pPr indent="0" marL="0">
              <a:buNone/>
            </a:pPr>
            <a:r>
              <a:rPr lang="en-US" sz="1000" dirty="0">
                <a:solidFill>
                  <a:srgbClr val="8FA0B3"/>
                </a:solidFill>
                <a:latin typeface="Consolas" pitchFamily="34" charset="0"/>
                <a:ea typeface="Consolas" pitchFamily="34" charset="-122"/>
                <a:cs typeface="Consolas"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2026-07-10T20:17:54Z</dcterms:created>
  <dcterms:modified xsi:type="dcterms:W3CDTF">2026-07-10T20:17:54Z</dcterms:modified>
</cp:coreProperties>
</file>